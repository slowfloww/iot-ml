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9" r:id="rId7"/>
    <p:sldId id="260" r:id="rId8"/>
    <p:sldId id="283" r:id="rId9"/>
    <p:sldId id="284" r:id="rId10"/>
    <p:sldId id="285" r:id="rId11"/>
    <p:sldId id="286" r:id="rId12"/>
    <p:sldId id="287" r:id="rId13"/>
    <p:sldId id="288" r:id="rId14"/>
    <p:sldId id="273" r:id="rId15"/>
    <p:sldId id="268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F7E"/>
    <a:srgbClr val="C78512"/>
    <a:srgbClr val="9A0000"/>
    <a:srgbClr val="2A629D"/>
    <a:srgbClr val="F7A617"/>
    <a:srgbClr val="E1ECF7"/>
    <a:srgbClr val="FFD1D1"/>
    <a:srgbClr val="FFB7B7"/>
    <a:srgbClr val="FF8B8B"/>
    <a:srgbClr val="F8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6ACCCA-3142-3E3B-006F-471D6259991D}" v="283" dt="2025-11-28T03:45:31.353"/>
    <p1510:client id="{D19CF8E5-8FC7-3488-6C01-D9E4FC06FBEB}" v="19" dt="2025-11-28T13:08:28.460"/>
    <p1510:client id="{DF85EF8B-76BC-4E02-8E39-B420FCCED12D}" v="2069" dt="2025-11-28T02:56:27.761"/>
    <p1510:client id="{E82DF40A-F11E-9B84-407F-E84B3F81F0BB}" v="594" dt="2025-11-28T04:19:54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7CC90DA-852B-F369-7E76-2F5BD97875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9DE37-FB21-79A9-4855-7E5B566C4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9429" y="3644859"/>
            <a:ext cx="8593137" cy="15025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BUSINESS CHART PRESENTATION</a:t>
            </a:r>
            <a:endParaRPr lang="en-ID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106AE53-CDCD-302A-D816-651C82248A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27671" y="5416436"/>
            <a:ext cx="7536655" cy="55105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Presented by Hexion for Annual Company Meeting 2023</a:t>
            </a:r>
            <a:endParaRPr lang="en-ID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EFFB9C5-DE95-68D1-7DE5-DABC7925A39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506068" y="39690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02/15</a:t>
            </a:r>
            <a:endParaRPr lang="en-ID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6C29D03-7857-4E96-5618-DF5FF19071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506067" y="623303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012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9D7627A7-7B49-3433-37D0-0084928D7D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54759" cy="685800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D03F9DD-D737-450C-1806-B7F1E192C5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52884" y="1291284"/>
            <a:ext cx="3295085" cy="67703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INDEX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5E9B88-4771-4A2E-60AB-B2DF8BE703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19978" y="2626455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6EA5C14-9263-42BA-B1E0-CCAC7C0045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9978" y="3180071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615F757-7DD5-81F9-9211-649483FF19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19978" y="3733687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A886D9C-6032-B1F9-0E4F-C6EEAF6FD6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9978" y="4287303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1E4B7CD-E2B6-0D80-93C4-DFB7615442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9978" y="4840919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7456572-C9B0-91F8-901F-3AADAB940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9978" y="5394535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7594C22B-8ECA-CE80-2BBC-61EBC4F2E0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12630" y="2626455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CEO GREETING</a:t>
            </a:r>
            <a:endParaRPr lang="en-ID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CC9F4DD0-6813-AE06-12AA-BA7022A6E4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12630" y="3180071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CEO GREETING</a:t>
            </a:r>
            <a:endParaRPr lang="en-ID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DE2643B-881C-3D3B-8D10-FA877588F2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12630" y="3733687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CEO GREETING</a:t>
            </a:r>
            <a:endParaRPr lang="en-ID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3904D442-C9AF-ACF5-1C83-0DA1761B6D7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2630" y="4287303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CEO GREETING</a:t>
            </a:r>
            <a:endParaRPr lang="en-ID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F1CAB54-640C-EB47-8515-1153A4B730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12630" y="4840919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CEO GREETING</a:t>
            </a:r>
            <a:endParaRPr lang="en-ID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9274D2D-90EF-A324-36F6-02AA2F397E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12630" y="5394535"/>
            <a:ext cx="2127250" cy="236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CEO GREETING</a:t>
            </a:r>
            <a:endParaRPr lang="en-ID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1618394-ED58-CBB4-2795-FA3631BCC3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07924" y="2626455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03.</a:t>
            </a:r>
            <a:endParaRPr lang="en-ID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B35B506C-08C8-7B06-CB45-F9543A7964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07923" y="3192756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04.</a:t>
            </a:r>
            <a:endParaRPr lang="en-ID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03FBFFE-2ED8-7DEC-CC9C-8C93A346C8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13013" y="3733687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05.</a:t>
            </a:r>
            <a:endParaRPr lang="en-ID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30E6AC87-98FD-8679-82FA-4DB04ED1D7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07923" y="4305843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06.</a:t>
            </a:r>
            <a:endParaRPr lang="en-ID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D493A3D1-1B7A-5C62-F789-55F6376AF18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07923" y="4840919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07.</a:t>
            </a:r>
            <a:endParaRPr lang="en-ID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D4044CE7-1B0E-1986-6ABA-0A67A7A4F9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18039" y="5394535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08.</a:t>
            </a:r>
            <a:endParaRPr lang="en-ID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74261DA3-B5D6-ECC7-A893-A993C707DD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78755" y="2626455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09.</a:t>
            </a:r>
            <a:endParaRPr lang="en-ID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8875384-2ABB-1277-80FF-1D146FBCCD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78754" y="3192756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10.</a:t>
            </a:r>
            <a:endParaRPr lang="en-ID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A1B84446-82B1-0483-F063-FC099745B2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83844" y="3733687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11.</a:t>
            </a:r>
            <a:endParaRPr lang="en-ID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918CF698-DBC9-A75B-9FC5-0E5C9B170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78754" y="4305843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12.</a:t>
            </a:r>
            <a:endParaRPr lang="en-ID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D0C3B7F0-5351-61CC-3479-74E7D697D4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78754" y="4840919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13.</a:t>
            </a:r>
            <a:endParaRPr lang="en-ID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65DFB5-588C-52EB-2644-CA62E7885C7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88870" y="5394535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14.</a:t>
            </a:r>
            <a:endParaRPr lang="en-ID"/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7BB9D473-131E-1C52-5E4D-40414C98A48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506068" y="39690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02/15</a:t>
            </a:r>
            <a:endParaRPr lang="en-ID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5790368D-E038-BCB7-5BDB-9A46E7A3F2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506067" y="623303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11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essage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91C4F5E-F131-CA40-285D-73E23DFE4C8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7158" y="37588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03/15</a:t>
            </a:r>
            <a:endParaRPr lang="en-ID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1A697CD-09F7-CAAD-0F7C-14FFE6B902D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7157" y="621201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92CB676-F1D1-9A09-653D-83622C2022F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529943" y="1345928"/>
            <a:ext cx="3625850" cy="3184525"/>
          </a:xfrm>
          <a:prstGeom prst="hexagon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D725098-03BD-631F-B5CE-80F8BAAE61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7157" y="1731578"/>
            <a:ext cx="4946984" cy="14557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THE ANNUAL MEETING</a:t>
            </a:r>
            <a:endParaRPr lang="en-ID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C95078A-F2B6-4CA5-FC25-B34C3F3ED9B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7157" y="1337738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WELCOME TO</a:t>
            </a:r>
            <a:endParaRPr lang="en-ID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1588D8D-8CE3-174B-BEA3-8C48D5E8A2E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642" y="4014232"/>
            <a:ext cx="4946984" cy="14557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3FDA0E3-FCE5-C97F-BCD0-4B54CE99554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717815" y="4835269"/>
            <a:ext cx="3288220" cy="281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A8B890BC-812F-14FE-467F-E8E2F9672E2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743300" y="5268459"/>
            <a:ext cx="3288220" cy="2015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863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Company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426D1F33-0C1E-149A-C220-95F29C9CB81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0"/>
            <a:ext cx="6096000" cy="242027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20CF149-C80C-492D-A9E1-A71E88DC3D8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506068" y="39690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04/15</a:t>
            </a:r>
            <a:endParaRPr lang="en-ID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CF8419A-81BE-8A7D-3515-BF6A8D478F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506067" y="623303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F160AA-C0A0-1764-4379-E50613F578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2000" y="1272694"/>
            <a:ext cx="4946984" cy="7506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8D1C100F-DE86-EA4A-98F3-BDAE4F2B87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2000" y="878854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ABOUT</a:t>
            </a:r>
            <a:endParaRPr lang="en-ID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072EAC7A-3BE3-577C-0A5A-813078EA71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02226"/>
            <a:ext cx="6082440" cy="3955774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82D4552-0E3D-9876-EE57-2A74443D350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70985" y="2902226"/>
            <a:ext cx="1372925" cy="5144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30+</a:t>
            </a:r>
            <a:endParaRPr lang="en-ID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2DDA983-C58E-53C2-826F-02B29B8EDB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58873" y="3416713"/>
            <a:ext cx="1129157" cy="27829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YEARS</a:t>
            </a:r>
            <a:endParaRPr lang="en-ID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12B6A1F-FE39-84C9-B6A7-3F764843C3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70985" y="4059375"/>
            <a:ext cx="1372925" cy="5144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250+</a:t>
            </a:r>
            <a:endParaRPr lang="en-ID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C249DBE-EFA4-8D41-BA60-4C962B09C41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58872" y="4573862"/>
            <a:ext cx="1297147" cy="27829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PRODUCT</a:t>
            </a:r>
            <a:endParaRPr lang="en-ID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144278A5-175D-4BB0-FA10-0CD29C4C331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70985" y="5211417"/>
            <a:ext cx="1379703" cy="5144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65%</a:t>
            </a:r>
            <a:endParaRPr lang="en-ID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5A09B89-B129-3BE7-88F7-76A587207E2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65651" y="5725904"/>
            <a:ext cx="1290368" cy="27829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ACTIVITIES</a:t>
            </a:r>
            <a:endParaRPr lang="en-ID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755AEEA-C454-D3B2-4848-CB6A795FDA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38271" y="3153506"/>
            <a:ext cx="3288220" cy="471603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of experience in the industry to provide the best products for home or office furniture</a:t>
            </a:r>
            <a:endParaRPr lang="en-ID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1966C848-E9A6-E592-8CD8-8D3F90A1ABA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38271" y="4138388"/>
            <a:ext cx="3288220" cy="614877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product variations in the market of which more than 50% of products always get high demand both at home and abroad</a:t>
            </a:r>
            <a:endParaRPr lang="en-ID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AF3B103E-E1A7-2D39-C478-DB87871172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38271" y="5266544"/>
            <a:ext cx="3288220" cy="61487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of online activities have increased profits and sales because the products we offer are easier to find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0583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8DABFCB6-F670-97E0-FF81-9FBD5ED2F4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416826" cy="685800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1DD7CA-1660-A2B9-DD80-3562183769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7158" y="37588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05/15</a:t>
            </a:r>
            <a:endParaRPr lang="en-ID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113686D-FED3-EE88-D29D-21B7543D668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7157" y="621201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DB8DBC-0CA6-45E5-4FFF-318CC513E1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599267"/>
            <a:ext cx="2445191" cy="80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53%</a:t>
            </a:r>
            <a:endParaRPr lang="en-ID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C56B141-04FE-D94C-CA5C-B677ABA60EE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96000" y="1551523"/>
            <a:ext cx="4873567" cy="3836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ONLINE TRANSACTION </a:t>
            </a:r>
            <a:endParaRPr lang="en-ID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405EF8C5-87DB-5DB2-A3A3-5F5E2C14B28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638651" y="3048633"/>
            <a:ext cx="3553195" cy="31863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F8F9FB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DA19C35-0D4A-8BC0-838E-BAD6EDA3BEC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38651" y="3585054"/>
            <a:ext cx="4890052" cy="70509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1200" b="0">
                <a:solidFill>
                  <a:srgbClr val="F8F9FB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CF4D49B-401E-7392-2AE9-B0B58135157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638651" y="5191997"/>
            <a:ext cx="3553195" cy="31863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F8F9FB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E021505-7AFE-A7AD-AFA7-0ADA14FF2BB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638651" y="5728418"/>
            <a:ext cx="4890052" cy="66774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1200" b="0">
                <a:solidFill>
                  <a:srgbClr val="F8F9FB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610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lestones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2CD083A-1D5D-2B66-150C-1285FE985ED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506068" y="39690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06/15</a:t>
            </a:r>
            <a:endParaRPr lang="en-ID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5395291A-8BF1-0290-E51B-1917CA6D6F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506067" y="623303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0B1465C-0C8C-0C17-9B4B-98FCE0D789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1999" y="1044029"/>
            <a:ext cx="4946984" cy="7450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MILESTONES</a:t>
            </a:r>
            <a:endParaRPr lang="en-ID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37FA2B0-555B-12DE-57B7-9775943082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1999" y="732955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COMPANY GROWTH</a:t>
            </a:r>
            <a:endParaRPr lang="en-ID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3606B04-AE87-F4EC-B79E-BF3B5B0DDBF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55369" y="4531475"/>
            <a:ext cx="1409805" cy="8747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22C250C7-AF8C-CB58-623D-CA7DC6ECF2C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61207" y="3448334"/>
            <a:ext cx="1203832" cy="3492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F8F9FB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1989</a:t>
            </a:r>
            <a:endParaRPr lang="en-ID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2DBEA34-5B88-81BC-F4D8-DF6BF55EB3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09963" y="3448334"/>
            <a:ext cx="1203832" cy="3492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F8F9FB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1989</a:t>
            </a:r>
            <a:endParaRPr lang="en-ID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F23D25D-D6AD-9F15-A576-6740B5F7E1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659814" y="3448334"/>
            <a:ext cx="1203832" cy="3492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F8F9FB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1989</a:t>
            </a:r>
            <a:endParaRPr lang="en-ID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C5E9DB98-2B33-8563-6456-16684A7502C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104474" y="3448334"/>
            <a:ext cx="1203832" cy="3492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F8F9FB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1989</a:t>
            </a:r>
            <a:endParaRPr lang="en-ID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6FE9CD2-8261-8240-AA76-ECFB936C2C4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47321" y="3448334"/>
            <a:ext cx="1203832" cy="3492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F8F9FB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1989</a:t>
            </a:r>
            <a:endParaRPr lang="en-ID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B69272E-E135-BFA9-AB25-2D063E04982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970592" y="3448334"/>
            <a:ext cx="1203832" cy="3492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F8F9FB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1989</a:t>
            </a:r>
            <a:endParaRPr lang="en-ID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16A6BCE-044A-59AA-0E1E-BE0A38B07F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65918" y="3439242"/>
            <a:ext cx="1203832" cy="3492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F8F9FB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1989</a:t>
            </a:r>
            <a:endParaRPr lang="en-ID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040E8C14-A7F8-481E-CF2A-9F5F32A1AF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3161" y="2674365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01.</a:t>
            </a:r>
            <a:endParaRPr lang="en-ID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17C2E13-E52A-C849-AEB7-3D496F89734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531406" y="2674365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02.</a:t>
            </a:r>
            <a:endParaRPr lang="en-ID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588139E6-77C9-55CD-84A0-7F7A7784339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969651" y="2674365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03.</a:t>
            </a:r>
            <a:endParaRPr lang="en-ID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D5D4F2C6-8ACD-94EE-496C-B37991BEF42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07896" y="2674365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04.</a:t>
            </a:r>
            <a:endParaRPr lang="en-ID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6CE5BB55-D017-CFD5-0B5F-584D07C4B1F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846141" y="2675322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05.</a:t>
            </a:r>
            <a:endParaRPr lang="en-ID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064299BA-1ACF-8DD0-C4A8-223D862D8C9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284386" y="2675322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06.</a:t>
            </a:r>
            <a:endParaRPr lang="en-ID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E5C1B402-5A09-322D-D10E-5111D22EA3E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704900" y="2674365"/>
            <a:ext cx="560945" cy="2362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07.</a:t>
            </a:r>
            <a:endParaRPr lang="en-ID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D030B258-5DA1-9C7C-8423-0BE9057D023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96928" y="4536063"/>
            <a:ext cx="1409805" cy="8747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3AE08FB-2354-E921-8F29-E599FE65D621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541855" y="4539847"/>
            <a:ext cx="1409805" cy="8747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C9EE4661-9264-00F7-A836-6F78EA6DFBD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983414" y="4544435"/>
            <a:ext cx="1409805" cy="8747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CB289D6A-2B10-F591-0933-BA2030670D34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436382" y="4549895"/>
            <a:ext cx="1409805" cy="87935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449EFE36-93CF-9100-94BD-4F5D23BF5EE2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7877941" y="4554483"/>
            <a:ext cx="1409805" cy="8747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4C7B57C1-DCC0-7CE5-AD07-A3EE72039B7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334526" y="4549895"/>
            <a:ext cx="1409805" cy="8747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1838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ducts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ADDCE52-6072-8E6A-85A7-ABE487A452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7158" y="37588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07/15</a:t>
            </a:r>
            <a:endParaRPr lang="en-ID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3F9F1A5-4F6E-36D3-4FCC-4688C6ECB2C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7157" y="621201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36BC4BD-B5C1-3FED-8032-DA910A5465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06868" y="874860"/>
            <a:ext cx="4946984" cy="74501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PRODUCTS</a:t>
            </a:r>
            <a:endParaRPr lang="en-ID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9432D04-03CA-13CA-1761-ACD6EB784D1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06868" y="563786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DEMAND</a:t>
            </a:r>
            <a:endParaRPr lang="en-ID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14581EE-EC50-C73F-5E35-FE718CA961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7444" y="2909668"/>
            <a:ext cx="2262601" cy="172634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25B40E00-AAB6-39B4-A22E-E0C83AA8643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474038" y="2909668"/>
            <a:ext cx="2262601" cy="172634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5F0C03F9-5B18-AE9C-77B0-DD8A358A4946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398214" y="2909668"/>
            <a:ext cx="2262601" cy="172634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DAA00485-5889-5BF3-7C2C-E0F7FA46CFC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322388" y="2909668"/>
            <a:ext cx="2262601" cy="172634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80D9A4E5-8D09-AF21-B1E9-5887ED831AA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37157" y="2401404"/>
            <a:ext cx="2544168" cy="2738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9D405D2-C988-A9D2-E3DB-BC116A9731D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305174" y="2401404"/>
            <a:ext cx="2600326" cy="2738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18CFF86-7EFD-683C-20F5-BE5923033E4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29352" y="2389348"/>
            <a:ext cx="2600326" cy="2738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E6EF026-4DE1-035E-5BE2-E4E6FCA53B4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153526" y="2401964"/>
            <a:ext cx="2600326" cy="2738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8C0A800-BEC2-D86B-EF66-CA9AF6EB5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07016" y="5232405"/>
            <a:ext cx="948292" cy="3782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01</a:t>
            </a:r>
            <a:endParaRPr lang="en-ID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63B30EA-3345-547B-9028-932E47F7B8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160818" y="5232405"/>
            <a:ext cx="948292" cy="3782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02</a:t>
            </a:r>
            <a:endParaRPr lang="en-ID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5D955E2A-7BF0-C32A-7532-53947F1A02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055367" y="5220476"/>
            <a:ext cx="948292" cy="3782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03</a:t>
            </a:r>
            <a:endParaRPr lang="en-ID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D4D8B54E-DB94-DE3E-0182-30CFF63EBB4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979542" y="5232405"/>
            <a:ext cx="948292" cy="3782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04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1479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Demographics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DBD73D1-2469-7631-ABFF-CC1A5D572B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1999" y="1044029"/>
            <a:ext cx="6662726" cy="7450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DEMOGRAPHICS</a:t>
            </a:r>
            <a:endParaRPr lang="en-ID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484DD2E-613B-0024-A16F-BF41C060A90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1999" y="732955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USER</a:t>
            </a:r>
            <a:endParaRPr lang="en-ID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9C472B4A-7E6C-704A-B655-F424A4AA8B1D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1133475" y="2379855"/>
            <a:ext cx="2409825" cy="208597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6C62361-6AB9-FE2D-32E7-27907EB6FF9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506068" y="39690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08/15</a:t>
            </a:r>
            <a:endParaRPr lang="en-ID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ADF87BC-057D-E7F9-BEE8-B16E0D71D26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506067" y="623303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14" name="Chart Placeholder 10">
            <a:extLst>
              <a:ext uri="{FF2B5EF4-FFF2-40B4-BE49-F238E27FC236}">
                <a16:creationId xmlns:a16="http://schemas.microsoft.com/office/drawing/2014/main" id="{48C65016-F150-5684-B3CB-F3ECD424FB63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4891087" y="2379855"/>
            <a:ext cx="2409825" cy="208597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6C364A3F-AEE7-BD8A-AA51-AB608D67FE87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8648700" y="2379854"/>
            <a:ext cx="2409825" cy="208597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0D4FDC9-0E88-D55E-6B29-DDCC2038C7E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77566" y="4655109"/>
            <a:ext cx="2125301" cy="2738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73% of Female Users</a:t>
            </a:r>
            <a:endParaRPr lang="en-ID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B2ED57DC-3F15-FFEB-37F3-86546753E15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16127" y="4655517"/>
            <a:ext cx="2125301" cy="2738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65% of Male Users</a:t>
            </a:r>
            <a:endParaRPr lang="en-ID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0F19989B-B9C5-5102-D39F-A84B1AB4D3C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064216" y="4645584"/>
            <a:ext cx="2125301" cy="2738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85% of All Users</a:t>
            </a:r>
            <a:endParaRPr lang="en-ID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D4D915F2-A1F9-6AE2-1110-6F5BBF02AF6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133475" y="5105229"/>
            <a:ext cx="2409825" cy="6464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C5F087B8-A17F-41F7-CF99-9F3CC4F18E6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891085" y="5105229"/>
            <a:ext cx="2409825" cy="6464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857C4467-44C1-C71F-BAAC-00DCFA4E59A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648697" y="5105229"/>
            <a:ext cx="2409825" cy="6464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43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etitive Analysis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F8B97DCD-5A1D-3C79-C104-BD1859FBE2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5199" y="857249"/>
            <a:ext cx="4946984" cy="74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ANALYSIS</a:t>
            </a:r>
            <a:endParaRPr lang="en-ID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A3A7BF6-1F76-63B7-0492-0A46682F0C7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05199" y="546175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COMPETITIVE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F5D292-B218-A04F-D170-39C58D02FD9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7158" y="37588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09/15</a:t>
            </a:r>
            <a:endParaRPr lang="en-ID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9267614-154A-07CB-3D5C-CB76880643C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7157" y="621201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76C39B93-0403-50FD-9449-47F6838E99B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39328" y="3201626"/>
            <a:ext cx="2183882" cy="2654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BF47F90B-CC57-22E8-93A5-648ACCC1D9C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439328" y="3719722"/>
            <a:ext cx="2183882" cy="2654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CBAF73B4-C938-3DCF-EBCB-1DC82FB114E1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455996" y="4230116"/>
            <a:ext cx="2183882" cy="2654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D3243F25-5E19-E762-0F41-3CE1114789E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455996" y="4753992"/>
            <a:ext cx="2183882" cy="2654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5AB0E277-15DC-17F0-CCD6-37307CB5823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455996" y="5306039"/>
            <a:ext cx="2183882" cy="2654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DF2C306A-8F04-FC5F-BFB7-6263EC89020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981173" y="2383086"/>
            <a:ext cx="2183882" cy="2654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EA271460-CE20-0F19-6348-EA9181DC3FDE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69569" y="2383086"/>
            <a:ext cx="2183882" cy="2654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970FDA52-FD51-3543-AF39-774D58A8645E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8703193" y="2383086"/>
            <a:ext cx="2183882" cy="2654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DB9656BE-9587-9EF1-A90C-9DCF84D25DB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75681" y="1602264"/>
            <a:ext cx="4946984" cy="37853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Comparison of our products with competitors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15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FA27F46A-F9AA-4EBB-9A68-A65E0D0E6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4724" y="800099"/>
            <a:ext cx="4946984" cy="74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ANALYSIS</a:t>
            </a:r>
            <a:endParaRPr lang="en-ID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B0BC628-E1C2-5CFA-B2E7-8A200D415D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14724" y="489025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SWOT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E1D38CB-FBBD-D662-F6EC-14421DFECC2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506068" y="39690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10/15</a:t>
            </a:r>
            <a:endParaRPr lang="en-ID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93B70EF-CFD6-7AF4-7D71-DFD82505B39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506067" y="623303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9AFCCBE-15CB-9034-1789-EA271C86A06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31535" y="3309862"/>
            <a:ext cx="530383" cy="42697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S</a:t>
            </a:r>
            <a:endParaRPr lang="en-ID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24D8D3A-15D6-701A-6468-D2E6D9D1A1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47037" y="4101183"/>
            <a:ext cx="530383" cy="42697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W</a:t>
            </a:r>
            <a:endParaRPr lang="en-ID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B6185858-8C78-BBC4-B532-10BA5FB8A5F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94456" y="3309862"/>
            <a:ext cx="530383" cy="4269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O</a:t>
            </a:r>
            <a:endParaRPr lang="en-ID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21C410D-893F-291A-173E-8E06F5E752A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94455" y="4101182"/>
            <a:ext cx="530383" cy="4269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T</a:t>
            </a:r>
            <a:endParaRPr lang="en-ID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6FDE54D-621F-FECB-8F95-C455D8A089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82277" y="2350743"/>
            <a:ext cx="2544168" cy="2738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STRENGTH</a:t>
            </a:r>
            <a:endParaRPr lang="en-ID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F2ED9A0C-346A-9028-6D93-D4D1A86B05C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582277" y="2854490"/>
            <a:ext cx="3397244" cy="5273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1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C4B75CD9-1E96-D764-77B2-D2DD6A751C1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30128" y="2310264"/>
            <a:ext cx="2544168" cy="2738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OPPORTUNITY</a:t>
            </a:r>
            <a:endParaRPr lang="en-ID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6D372AF2-740A-1BE0-D101-10875F48658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930128" y="2814011"/>
            <a:ext cx="3397244" cy="5273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1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D373957E-AE02-B414-3682-FED5D54F22C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582277" y="4524176"/>
            <a:ext cx="2544168" cy="2738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WEAKNESS</a:t>
            </a:r>
            <a:endParaRPr lang="en-ID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DB8B42FA-5A3C-77B6-31C3-6EFD943D968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582277" y="5027923"/>
            <a:ext cx="3397244" cy="5273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1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76E016FB-8422-D669-2637-2654A37E2C74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930128" y="4524176"/>
            <a:ext cx="2544168" cy="2738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THREATS</a:t>
            </a:r>
            <a:endParaRPr lang="en-ID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74507694-9814-D6A2-9DEA-ABC4BBB741B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930128" y="5027923"/>
            <a:ext cx="3397244" cy="5273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1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76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 Numbers Chart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A5215B1-8FE3-AEA1-D3B2-D5C7D2774FA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7158" y="37588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11/15</a:t>
            </a:r>
            <a:endParaRPr lang="en-ID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A49100AE-DAEB-BCD6-84CB-54E9D79267C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7157" y="621201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31BF231-0098-A01E-1F6D-22E69BD8F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7157" y="1127751"/>
            <a:ext cx="4946984" cy="7450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FINANCIALS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D1F54B-E16D-C663-A1BE-D668D9E312C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7157" y="816677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OUR</a:t>
            </a:r>
            <a:endParaRPr lang="en-ID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10E756B-E4CC-E09E-A46E-05DFFF435CB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37156" y="1902583"/>
            <a:ext cx="6878043" cy="3785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4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A7CBFA62-A0AC-E60F-541D-72459B6A7B9E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437156" y="2388392"/>
            <a:ext cx="11319415" cy="2886994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597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Roadmap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E72FCCF5-BCA7-284F-3CDD-8AAE7AC137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010025"/>
            <a:ext cx="2395795" cy="284797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30D6476D-39A9-081F-FBBF-E1D6258EE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95794" y="4010025"/>
            <a:ext cx="2395795" cy="284797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6940EBFE-248B-F674-5BE1-D71E81717D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91589" y="4010025"/>
            <a:ext cx="2608821" cy="284797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A9600E79-D4DC-0CB2-1D32-F46F8090C6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410" y="4010025"/>
            <a:ext cx="2395795" cy="284797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1B6F760B-E67B-5B26-6932-0907BE107F0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96205" y="4010025"/>
            <a:ext cx="2395795" cy="284797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7A1A1DF-943D-E6C8-C561-99D099F566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4726" y="944221"/>
            <a:ext cx="4946984" cy="74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ANALYSIS</a:t>
            </a:r>
            <a:endParaRPr lang="en-ID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B1AEFE6-3391-89C5-BCCD-5504B84E041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14726" y="633147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SWOT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A60A14-9F81-89CD-355A-9966FE762D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-1" y="2461630"/>
            <a:ext cx="2395795" cy="19660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rgbClr val="AECBE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STEP 1</a:t>
            </a:r>
            <a:endParaRPr lang="en-ID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2F47688-0B6F-1FB4-88E4-7A1255D234B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395794" y="2461630"/>
            <a:ext cx="2395795" cy="19660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rgbClr val="AECBE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STEP 2</a:t>
            </a:r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1FECBAD-A318-ECB7-C9AE-25DD768A26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91589" y="2461630"/>
            <a:ext cx="2608821" cy="19660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rgbClr val="AECBE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STEP 3</a:t>
            </a:r>
            <a:endParaRPr lang="en-ID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EB69E0E1-2299-355A-5373-E9345193339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00409" y="2471155"/>
            <a:ext cx="2395795" cy="19660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rgbClr val="AECBE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STEP 4</a:t>
            </a:r>
            <a:endParaRPr lang="en-ID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FDD02E2-902F-7BF3-6FFB-8C5622F49D6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796204" y="2461630"/>
            <a:ext cx="2395795" cy="19660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rgbClr val="AECBE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STEP 5</a:t>
            </a:r>
            <a:endParaRPr lang="en-ID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985EDD3-9892-B7A8-A0C4-E7A76C5C27F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52400" y="3082660"/>
            <a:ext cx="2028825" cy="3512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09F650A-E9FC-8DE2-2454-A60CF2B371E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2579278" y="3082659"/>
            <a:ext cx="2028825" cy="3512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E9C0DD3-8BF0-20FD-2AC1-AF53A279A4A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81586" y="3082659"/>
            <a:ext cx="2028825" cy="3512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C025BA6-0D1E-1F28-AE54-7DC7FC42CD9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583897" y="3082659"/>
            <a:ext cx="2028825" cy="3512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2E9C6E6-6151-353F-3FB0-BE9C94AA871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979688" y="3082658"/>
            <a:ext cx="2028825" cy="3512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4C224A1-20A4-090B-286D-857025518C7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88437" y="1698761"/>
            <a:ext cx="6815126" cy="37853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An overview of project work to become a finished product</a:t>
            </a:r>
            <a:endParaRPr lang="en-ID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8ADE8DC5-3EF0-9F13-D8D2-91F8794EB3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506068" y="39690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12/15</a:t>
            </a:r>
            <a:endParaRPr lang="en-ID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E2348D23-3335-F5FA-3D8B-52A8FCD9665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506067" y="623303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3150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ing Strategy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7B2B2E0-35B5-13A6-5712-7A4F3A34AFA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7158" y="37588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13/15</a:t>
            </a:r>
            <a:endParaRPr lang="en-ID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B0AD93F-BF2B-9141-1327-4401B54B46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7157" y="621201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D9E4CAFF-223E-AE94-D4D1-4D5F11C3AE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75174" y="0"/>
            <a:ext cx="5416826" cy="685800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C7935B5-FB8D-2055-62CF-AC16BFA1BB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7157" y="1361097"/>
            <a:ext cx="5211168" cy="7450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STRATEGY</a:t>
            </a:r>
            <a:endParaRPr lang="en-ID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AE04D63-A77B-47D8-4852-9B8F766BCE2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7157" y="1050023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MARKETING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D2FD12-6E52-76D8-A13C-D9B3C5F9BC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864" y="3447959"/>
            <a:ext cx="2544168" cy="3808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13538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APPROACH 1</a:t>
            </a:r>
            <a:endParaRPr lang="en-ID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BF01AC2-3B33-B777-938B-F06029C823D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95138" y="3447959"/>
            <a:ext cx="2544168" cy="3808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en-US"/>
              <a:t>APPROACH 2</a:t>
            </a:r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896591-AE14-B6E4-46B1-4A9B3A259285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10864" y="4587893"/>
            <a:ext cx="2544168" cy="8315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1100" b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3F2F4CB2-A4EA-712D-6166-01A5D518457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810953" y="4587892"/>
            <a:ext cx="2544168" cy="8315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1100" b="0">
                <a:solidFill>
                  <a:srgbClr val="F8F9FB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6105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642D224-A793-46F1-7BCD-B8D730BA8D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3053" y="897229"/>
            <a:ext cx="10385893" cy="745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ORGANIZATIONAL CHART</a:t>
            </a:r>
            <a:endParaRPr lang="en-ID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ACC0E7A8-AB61-151E-D1F9-F980F10463D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90415" y="492518"/>
            <a:ext cx="5211168" cy="281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OUR</a:t>
            </a:r>
            <a:endParaRPr lang="en-ID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49B0BF6-0EEF-2BBF-5A99-F342DC95188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506068" y="39690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12/15</a:t>
            </a:r>
            <a:endParaRPr lang="en-ID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610F041-6129-6C43-06AA-F3FD94724FC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506067" y="6233033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51" name="Picture Placeholder 7">
            <a:extLst>
              <a:ext uri="{FF2B5EF4-FFF2-40B4-BE49-F238E27FC236}">
                <a16:creationId xmlns:a16="http://schemas.microsoft.com/office/drawing/2014/main" id="{21D87E43-A85A-24A7-62A8-6119477F9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29347" y="2110813"/>
            <a:ext cx="550636" cy="573924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4DAC8A02-557F-E221-B56C-6E2BBD4C4B0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882844" y="3212549"/>
            <a:ext cx="550636" cy="573924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53" name="Picture Placeholder 7">
            <a:extLst>
              <a:ext uri="{FF2B5EF4-FFF2-40B4-BE49-F238E27FC236}">
                <a16:creationId xmlns:a16="http://schemas.microsoft.com/office/drawing/2014/main" id="{E1E3E4D5-13C3-1F65-E0AA-F3D52E0B773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974293" y="3145286"/>
            <a:ext cx="550636" cy="573924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54" name="Picture Placeholder 7">
            <a:extLst>
              <a:ext uri="{FF2B5EF4-FFF2-40B4-BE49-F238E27FC236}">
                <a16:creationId xmlns:a16="http://schemas.microsoft.com/office/drawing/2014/main" id="{7865B052-B7C7-D087-9362-B7D1495A06C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93768" y="5223293"/>
            <a:ext cx="550636" cy="573924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55" name="Picture Placeholder 7">
            <a:extLst>
              <a:ext uri="{FF2B5EF4-FFF2-40B4-BE49-F238E27FC236}">
                <a16:creationId xmlns:a16="http://schemas.microsoft.com/office/drawing/2014/main" id="{90DAE8BE-BBEF-E1C5-158A-DFA95164E8B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295650" y="5230053"/>
            <a:ext cx="550636" cy="573924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56" name="Picture Placeholder 7">
            <a:extLst>
              <a:ext uri="{FF2B5EF4-FFF2-40B4-BE49-F238E27FC236}">
                <a16:creationId xmlns:a16="http://schemas.microsoft.com/office/drawing/2014/main" id="{EECB3C1F-52E2-4669-EFF1-D44E9CD4C27E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712019" y="5222425"/>
            <a:ext cx="550636" cy="573924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57" name="Picture Placeholder 7">
            <a:extLst>
              <a:ext uri="{FF2B5EF4-FFF2-40B4-BE49-F238E27FC236}">
                <a16:creationId xmlns:a16="http://schemas.microsoft.com/office/drawing/2014/main" id="{8E8291F0-A1FB-5656-DEE5-BBDE33E840F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421338" y="5222425"/>
            <a:ext cx="550636" cy="573924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4E8162E8-0F7C-6484-39E9-07BBD81F522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20458" y="2168246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22C8A88A-B3DA-AD1B-A54E-0492C41BA7C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520458" y="2427333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50" b="0">
                <a:solidFill>
                  <a:srgbClr val="F8F9FB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E882595A-64FE-5DE2-9949-2A0FCF5A1BD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477648" y="3262446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8B5E363B-86A7-F4EE-064C-234EA417317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477648" y="3521533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50" b="0">
                <a:solidFill>
                  <a:srgbClr val="F8F9FB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1B0F73BF-7AA6-5974-23DE-26530200BD8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164347" y="5261630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63" name="Text Placeholder 9">
            <a:extLst>
              <a:ext uri="{FF2B5EF4-FFF2-40B4-BE49-F238E27FC236}">
                <a16:creationId xmlns:a16="http://schemas.microsoft.com/office/drawing/2014/main" id="{2973650B-37D4-E3E8-1BA7-24141E8AF194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164347" y="5520717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50" b="0">
                <a:solidFill>
                  <a:srgbClr val="F8F9FB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5EA1B4D3-A222-6417-13B3-D662B00CED7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886736" y="5268651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65" name="Text Placeholder 9">
            <a:extLst>
              <a:ext uri="{FF2B5EF4-FFF2-40B4-BE49-F238E27FC236}">
                <a16:creationId xmlns:a16="http://schemas.microsoft.com/office/drawing/2014/main" id="{01AF127B-41B2-BA36-AFFA-64F1DA89BA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886736" y="5527738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50" b="0">
                <a:solidFill>
                  <a:srgbClr val="F8F9FB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6" name="Text Placeholder 9">
            <a:extLst>
              <a:ext uri="{FF2B5EF4-FFF2-40B4-BE49-F238E27FC236}">
                <a16:creationId xmlns:a16="http://schemas.microsoft.com/office/drawing/2014/main" id="{5621842F-47FF-AE7E-F762-4EA77D9E320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2029892" y="4232140"/>
            <a:ext cx="1926469" cy="2248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67" name="Text Placeholder 9">
            <a:extLst>
              <a:ext uri="{FF2B5EF4-FFF2-40B4-BE49-F238E27FC236}">
                <a16:creationId xmlns:a16="http://schemas.microsoft.com/office/drawing/2014/main" id="{C19C6304-0980-679B-B123-25D0CB9E1CAB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8045505" y="4232140"/>
            <a:ext cx="1926469" cy="2248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DFB6DC0F-BBD8-9EBF-42B5-3173D3D3F65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571374" y="3196695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69" name="Text Placeholder 9">
            <a:extLst>
              <a:ext uri="{FF2B5EF4-FFF2-40B4-BE49-F238E27FC236}">
                <a16:creationId xmlns:a16="http://schemas.microsoft.com/office/drawing/2014/main" id="{C8F1370A-BF2D-C0A4-EE5E-148571A08BD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571374" y="3455782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50" b="0">
                <a:solidFill>
                  <a:srgbClr val="F8F9FB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0" name="Text Placeholder 9">
            <a:extLst>
              <a:ext uri="{FF2B5EF4-FFF2-40B4-BE49-F238E27FC236}">
                <a16:creationId xmlns:a16="http://schemas.microsoft.com/office/drawing/2014/main" id="{856DFED2-F118-8B7F-4A95-97FF7013AF55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303105" y="5270231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71" name="Text Placeholder 9">
            <a:extLst>
              <a:ext uri="{FF2B5EF4-FFF2-40B4-BE49-F238E27FC236}">
                <a16:creationId xmlns:a16="http://schemas.microsoft.com/office/drawing/2014/main" id="{8EA11CFF-D598-0A12-963D-0B56B2FA08F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7303105" y="5529318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50" b="0">
                <a:solidFill>
                  <a:srgbClr val="F8F9FB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2AC07824-A441-6079-4372-E1AF271D66AD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10012424" y="5252105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73" name="Text Placeholder 9">
            <a:extLst>
              <a:ext uri="{FF2B5EF4-FFF2-40B4-BE49-F238E27FC236}">
                <a16:creationId xmlns:a16="http://schemas.microsoft.com/office/drawing/2014/main" id="{A890E681-2FF7-8885-1B08-4BC20DB60D4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10012424" y="5511192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50" b="0">
                <a:solidFill>
                  <a:srgbClr val="F8F9FB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68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DD876C02-8A6E-F977-3539-FA2AACE954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7158" y="37588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PAGE 15/15</a:t>
            </a:r>
            <a:endParaRPr lang="en-ID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55C8EAA-5824-C497-FA7E-C6FB60B1DF1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7157" y="6212012"/>
            <a:ext cx="1241901" cy="236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HEXION</a:t>
            </a:r>
            <a:endParaRPr lang="en-ID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9825781-9EB6-91B6-032E-4AB3F4C693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ID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FF6AEF12-C489-9291-8081-BE8EE8C2CA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5901" y="1276794"/>
            <a:ext cx="4946984" cy="74501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5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THANK YOU</a:t>
            </a:r>
            <a:endParaRPr lang="en-ID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6E2E4F5-926B-7D67-B180-C65C19E8B7A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94280" y="2081028"/>
            <a:ext cx="4946984" cy="28125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FOR YOUR ATTENTION</a:t>
            </a:r>
            <a:endParaRPr lang="en-ID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45901309-4968-3799-BF59-F7D1B829B35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9995906" y="4927063"/>
            <a:ext cx="1545358" cy="22483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913542-135F-4568-C7A2-5D7AF4FA6EE2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992841" y="5237931"/>
            <a:ext cx="2542492" cy="22483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1FEF585-E4FA-F414-B5F3-F7D7867EAF91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958652" y="5581206"/>
            <a:ext cx="2542492" cy="22483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b="1">
                <a:solidFill>
                  <a:srgbClr val="F8F9FB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5BCFF7C-08E3-9C8B-510A-6EB6CC6CEAB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784840" y="4527367"/>
            <a:ext cx="1750493" cy="28125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CONTACT: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1755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716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www.aliexpress.com/item/1005008250984821.html" TargetMode="Externa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espressif.com/projects/esp-dev-kits/en/latest/esp32c6/esp32-c6-devkitc-1/user_guide.html" TargetMode="External"/><Relationship Id="rId5" Type="http://schemas.openxmlformats.org/officeDocument/2006/relationships/hyperlink" Target="https://www.aliexpress.com/item/32759901711.html" TargetMode="External"/><Relationship Id="rId4" Type="http://schemas.openxmlformats.org/officeDocument/2006/relationships/hyperlink" Target="https://www.aliexpress.com/item/100500831505737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8E030-12C8-75A2-DCF8-9F18C8B72F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9432" y="2639463"/>
            <a:ext cx="8593137" cy="1579074"/>
          </a:xfrm>
        </p:spPr>
        <p:txBody>
          <a:bodyPr/>
          <a:lstStyle/>
          <a:p>
            <a:r>
              <a:rPr lang="es-CL" sz="3600" noProof="0"/>
              <a:t>Hito 2 - Control y estimación del confort térmico en </a:t>
            </a:r>
            <a:r>
              <a:rPr lang="es-CL" sz="3600" noProof="0" err="1"/>
              <a:t>smart</a:t>
            </a:r>
            <a:r>
              <a:rPr lang="es-CL" sz="3600" noProof="0"/>
              <a:t> </a:t>
            </a:r>
            <a:r>
              <a:rPr lang="es-CL" sz="3600" noProof="0" err="1"/>
              <a:t>homes</a:t>
            </a:r>
            <a:r>
              <a:rPr lang="es-CL" sz="3600" noProof="0"/>
              <a:t> mediante </a:t>
            </a:r>
            <a:r>
              <a:rPr lang="es-CL" sz="3600" noProof="0" err="1"/>
              <a:t>IoT</a:t>
            </a:r>
            <a:r>
              <a:rPr lang="es-CL" sz="3600" noProof="0"/>
              <a:t> y ML​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CFB095B-DC1E-C5DA-B41D-28063CA79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1540302"/>
            <a:ext cx="3886200" cy="7874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2906297-2738-0087-0A57-CAC299451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407" y="6605081"/>
            <a:ext cx="995461" cy="35992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C3C8DAA-3BB4-2AE4-33E2-38607E90804A}"/>
              </a:ext>
            </a:extLst>
          </p:cNvPr>
          <p:cNvSpPr txBox="1"/>
          <p:nvPr/>
        </p:nvSpPr>
        <p:spPr>
          <a:xfrm>
            <a:off x="4460321" y="4218537"/>
            <a:ext cx="3475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i="1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IPD446 – Seminario Avanzado </a:t>
            </a:r>
            <a:r>
              <a:rPr lang="es-CL" sz="1600" b="1" i="1" noProof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TICs</a:t>
            </a:r>
            <a:endParaRPr lang="es-CL" sz="1600" b="1" i="1" noProof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39015F-8360-5C5B-EB14-C1895A3C4314}"/>
              </a:ext>
            </a:extLst>
          </p:cNvPr>
          <p:cNvSpPr txBox="1"/>
          <p:nvPr/>
        </p:nvSpPr>
        <p:spPr>
          <a:xfrm>
            <a:off x="2943630" y="5025310"/>
            <a:ext cx="63047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600" b="1" i="1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Profesor: Patricia Franco</a:t>
            </a:r>
          </a:p>
          <a:p>
            <a:pPr algn="ctr"/>
            <a:r>
              <a:rPr lang="es-CL" sz="1600" b="1" i="1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Estudiantes: Alex Aravena – Benjamín Mena – Diego Maldonado</a:t>
            </a:r>
          </a:p>
        </p:txBody>
      </p:sp>
    </p:spTree>
    <p:extLst>
      <p:ext uri="{BB962C8B-B14F-4D97-AF65-F5344CB8AC3E}">
        <p14:creationId xmlns:p14="http://schemas.microsoft.com/office/powerpoint/2010/main" val="1958241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01DB687-0086-7C17-D95A-DD1A772D8FB1}"/>
              </a:ext>
            </a:extLst>
          </p:cNvPr>
          <p:cNvSpPr/>
          <p:nvPr/>
        </p:nvSpPr>
        <p:spPr>
          <a:xfrm>
            <a:off x="7051692" y="0"/>
            <a:ext cx="4562061" cy="6858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4D9FBC2-24A2-4371-1658-52D3F30C16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641" y="251887"/>
            <a:ext cx="6944650" cy="662514"/>
          </a:xfrm>
        </p:spPr>
        <p:txBody>
          <a:bodyPr/>
          <a:lstStyle/>
          <a:p>
            <a:pPr algn="ctr"/>
            <a:r>
              <a:rPr lang="es-CL" sz="4400" noProof="0"/>
              <a:t>Problema del proyecto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AF1F49-A17D-D9DB-40D1-DA408030B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407" y="6605081"/>
            <a:ext cx="995461" cy="35992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DE0345F-0F86-FAD2-DF02-CDE290CED687}"/>
              </a:ext>
            </a:extLst>
          </p:cNvPr>
          <p:cNvSpPr txBox="1"/>
          <p:nvPr/>
        </p:nvSpPr>
        <p:spPr>
          <a:xfrm>
            <a:off x="578247" y="2828836"/>
            <a:ext cx="584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b="1" noProof="0"/>
              <a:t>Automatizar el control del confort térmico en el hogar considerando variables personales y ambientales, no solo la temperatura, para mejorar la comodidad y eficiencia energética.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AE0A92-B014-0F22-499F-EC325E00AF36}"/>
              </a:ext>
            </a:extLst>
          </p:cNvPr>
          <p:cNvSpPr txBox="1"/>
          <p:nvPr/>
        </p:nvSpPr>
        <p:spPr>
          <a:xfrm>
            <a:off x="7382115" y="1868944"/>
            <a:ext cx="38862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b="1" noProof="0"/>
              <a:t>Porque mantener el PMV en el rango ideal mejora el bienestar de las personas y reduce el consumo energético mediante un control inteligente basado en </a:t>
            </a:r>
            <a:r>
              <a:rPr lang="es-CL" b="1" noProof="0" err="1"/>
              <a:t>IoT</a:t>
            </a:r>
            <a:r>
              <a:rPr lang="es-CL" b="1" noProof="0"/>
              <a:t> y Machine </a:t>
            </a:r>
            <a:r>
              <a:rPr lang="es-CL" b="1" noProof="0" err="1"/>
              <a:t>Learning</a:t>
            </a:r>
            <a:r>
              <a:rPr lang="es-CL" b="1" noProof="0"/>
              <a:t>.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B927B20D-4F38-180C-9D50-316C7373F6FC}"/>
              </a:ext>
            </a:extLst>
          </p:cNvPr>
          <p:cNvSpPr txBox="1">
            <a:spLocks/>
          </p:cNvSpPr>
          <p:nvPr/>
        </p:nvSpPr>
        <p:spPr>
          <a:xfrm>
            <a:off x="404155" y="1868944"/>
            <a:ext cx="6190183" cy="54335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200" noProof="0">
                <a:solidFill>
                  <a:srgbClr val="C00000"/>
                </a:solidFill>
              </a:rPr>
              <a:t>¿Qué necesidad aborda?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9C633C6E-A760-A4EE-AD04-3BD5DF19A357}"/>
              </a:ext>
            </a:extLst>
          </p:cNvPr>
          <p:cNvSpPr txBox="1">
            <a:spLocks/>
          </p:cNvSpPr>
          <p:nvPr/>
        </p:nvSpPr>
        <p:spPr>
          <a:xfrm>
            <a:off x="7690704" y="474136"/>
            <a:ext cx="3269022" cy="129539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600" noProof="0">
                <a:solidFill>
                  <a:srgbClr val="C00000"/>
                </a:solidFill>
              </a:rPr>
              <a:t>¿Por qué es relevante?</a:t>
            </a:r>
          </a:p>
        </p:txBody>
      </p:sp>
      <p:pic>
        <p:nvPicPr>
          <p:cNvPr id="13" name="Imagen 12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52333F0F-C708-8163-AB0A-9E32EB008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704" y="3282131"/>
            <a:ext cx="3745202" cy="374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99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B2BF-1D0A-E596-F4B6-D4CD6A60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80CF81B-2DED-94CF-F34C-19AFC5EDFF97}"/>
              </a:ext>
            </a:extLst>
          </p:cNvPr>
          <p:cNvSpPr/>
          <p:nvPr/>
        </p:nvSpPr>
        <p:spPr>
          <a:xfrm>
            <a:off x="564290" y="1413933"/>
            <a:ext cx="11063420" cy="5012267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D4BB367-E740-BF19-1610-42DC798993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417" y="485620"/>
            <a:ext cx="6257071" cy="749432"/>
          </a:xfrm>
        </p:spPr>
        <p:txBody>
          <a:bodyPr/>
          <a:lstStyle/>
          <a:p>
            <a:pPr algn="ctr"/>
            <a:r>
              <a:rPr lang="es-CL" noProof="0"/>
              <a:t>Objetivo General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4D9521-1B01-B123-5484-358C92960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407" y="6605081"/>
            <a:ext cx="995461" cy="3599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6D024F2-3A04-8DD9-7C19-C4778677D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64290" y="1349006"/>
            <a:ext cx="6305326" cy="7382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8F42023-93C1-55C3-1824-EE4728A39988}"/>
              </a:ext>
            </a:extLst>
          </p:cNvPr>
          <p:cNvSpPr txBox="1"/>
          <p:nvPr/>
        </p:nvSpPr>
        <p:spPr>
          <a:xfrm>
            <a:off x="1557867" y="3012125"/>
            <a:ext cx="90762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Desarrollar un modelo predictivo que determine la temperatura óptima para mantener el confort térmico </a:t>
            </a:r>
            <a:r>
              <a:rPr lang="es-CL"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(PMV entre −0.5 y 0.5)</a:t>
            </a:r>
            <a:r>
              <a:rPr lang="es-MX" sz="2800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 partir de las variables medidas por los dispositivos </a:t>
            </a:r>
            <a:r>
              <a:rPr lang="es-MX" sz="2800" noProof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IoT</a:t>
            </a:r>
            <a:r>
              <a:rPr lang="es-MX" sz="2800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del hogar.</a:t>
            </a:r>
            <a:endParaRPr lang="es-CL" sz="2800" noProof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231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39361C22-A0B2-05EE-481B-56B304B54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-1" y="6784171"/>
            <a:ext cx="12192000" cy="73828"/>
          </a:xfrm>
          <a:prstGeom prst="rect">
            <a:avLst/>
          </a:prstGeom>
        </p:spPr>
      </p:pic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0EA953DD-66CD-A8C6-C898-18D3CFE4BDC6}"/>
              </a:ext>
            </a:extLst>
          </p:cNvPr>
          <p:cNvSpPr txBox="1">
            <a:spLocks/>
          </p:cNvSpPr>
          <p:nvPr/>
        </p:nvSpPr>
        <p:spPr>
          <a:xfrm>
            <a:off x="2051770" y="327304"/>
            <a:ext cx="8088461" cy="61516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4400" noProof="0">
                <a:solidFill>
                  <a:schemeClr val="tx1"/>
                </a:solidFill>
              </a:rPr>
              <a:t>Arquitectura de 4 Capas</a:t>
            </a:r>
            <a:endParaRPr lang="es-CL" sz="3600" noProof="0">
              <a:solidFill>
                <a:schemeClr val="tx1"/>
              </a:solidFill>
            </a:endParaRPr>
          </a:p>
        </p:txBody>
      </p:sp>
      <p:sp>
        <p:nvSpPr>
          <p:cNvPr id="2" name="Flecha: curvada hacia la derecha 1">
            <a:extLst>
              <a:ext uri="{FF2B5EF4-FFF2-40B4-BE49-F238E27FC236}">
                <a16:creationId xmlns:a16="http://schemas.microsoft.com/office/drawing/2014/main" id="{2249CBBA-FCEB-ED5F-20D7-7A9ED6E78BA9}"/>
              </a:ext>
            </a:extLst>
          </p:cNvPr>
          <p:cNvSpPr/>
          <p:nvPr/>
        </p:nvSpPr>
        <p:spPr>
          <a:xfrm>
            <a:off x="1399307" y="1554460"/>
            <a:ext cx="900980" cy="983447"/>
          </a:xfrm>
          <a:prstGeom prst="curvedRightArrow">
            <a:avLst>
              <a:gd name="adj1" fmla="val 52424"/>
              <a:gd name="adj2" fmla="val 54714"/>
              <a:gd name="adj3" fmla="val 3611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3" name="Flecha: curvada hacia la derecha 2">
            <a:extLst>
              <a:ext uri="{FF2B5EF4-FFF2-40B4-BE49-F238E27FC236}">
                <a16:creationId xmlns:a16="http://schemas.microsoft.com/office/drawing/2014/main" id="{F110D7C5-2615-0D32-805D-0656B79DDBC7}"/>
              </a:ext>
            </a:extLst>
          </p:cNvPr>
          <p:cNvSpPr/>
          <p:nvPr/>
        </p:nvSpPr>
        <p:spPr>
          <a:xfrm>
            <a:off x="1399307" y="2843335"/>
            <a:ext cx="900980" cy="983447"/>
          </a:xfrm>
          <a:prstGeom prst="curvedRightArrow">
            <a:avLst>
              <a:gd name="adj1" fmla="val 52424"/>
              <a:gd name="adj2" fmla="val 54714"/>
              <a:gd name="adj3" fmla="val 36115"/>
            </a:avLst>
          </a:prstGeom>
          <a:solidFill>
            <a:srgbClr val="F7A6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4" name="Flecha: curvada hacia la derecha 3">
            <a:extLst>
              <a:ext uri="{FF2B5EF4-FFF2-40B4-BE49-F238E27FC236}">
                <a16:creationId xmlns:a16="http://schemas.microsoft.com/office/drawing/2014/main" id="{8CA17A83-7AF5-A06F-7BEE-3D12C2F94710}"/>
              </a:ext>
            </a:extLst>
          </p:cNvPr>
          <p:cNvSpPr/>
          <p:nvPr/>
        </p:nvSpPr>
        <p:spPr>
          <a:xfrm>
            <a:off x="1399307" y="4132210"/>
            <a:ext cx="900980" cy="983447"/>
          </a:xfrm>
          <a:prstGeom prst="curvedRightArrow">
            <a:avLst>
              <a:gd name="adj1" fmla="val 52424"/>
              <a:gd name="adj2" fmla="val 54714"/>
              <a:gd name="adj3" fmla="val 36115"/>
            </a:avLst>
          </a:prstGeom>
          <a:solidFill>
            <a:srgbClr val="2A62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5" name="Flecha: curvada hacia la derecha 4">
            <a:extLst>
              <a:ext uri="{FF2B5EF4-FFF2-40B4-BE49-F238E27FC236}">
                <a16:creationId xmlns:a16="http://schemas.microsoft.com/office/drawing/2014/main" id="{11718E40-2B4F-CA08-4E8C-3B962F867CB2}"/>
              </a:ext>
            </a:extLst>
          </p:cNvPr>
          <p:cNvSpPr/>
          <p:nvPr/>
        </p:nvSpPr>
        <p:spPr>
          <a:xfrm>
            <a:off x="1399307" y="5421085"/>
            <a:ext cx="900980" cy="983447"/>
          </a:xfrm>
          <a:prstGeom prst="curvedRightArrow">
            <a:avLst>
              <a:gd name="adj1" fmla="val 52424"/>
              <a:gd name="adj2" fmla="val 54714"/>
              <a:gd name="adj3" fmla="val 361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6BBA63B-DEA8-BA89-68FA-2BB4D1E9162C}"/>
              </a:ext>
            </a:extLst>
          </p:cNvPr>
          <p:cNvSpPr/>
          <p:nvPr/>
        </p:nvSpPr>
        <p:spPr>
          <a:xfrm>
            <a:off x="2724149" y="1552768"/>
            <a:ext cx="6743700" cy="983447"/>
          </a:xfrm>
          <a:prstGeom prst="roundRect">
            <a:avLst>
              <a:gd name="adj" fmla="val 50000"/>
            </a:avLst>
          </a:prstGeom>
          <a:solidFill>
            <a:srgbClr val="9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F828185-6B81-7648-B386-27FDEB2B6E94}"/>
              </a:ext>
            </a:extLst>
          </p:cNvPr>
          <p:cNvSpPr/>
          <p:nvPr/>
        </p:nvSpPr>
        <p:spPr>
          <a:xfrm>
            <a:off x="2724149" y="5305232"/>
            <a:ext cx="6743700" cy="983447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E367E7C-17F6-C30F-A613-523A0118E55E}"/>
              </a:ext>
            </a:extLst>
          </p:cNvPr>
          <p:cNvSpPr/>
          <p:nvPr/>
        </p:nvSpPr>
        <p:spPr>
          <a:xfrm>
            <a:off x="2724149" y="4054410"/>
            <a:ext cx="6743700" cy="983447"/>
          </a:xfrm>
          <a:prstGeom prst="roundRect">
            <a:avLst>
              <a:gd name="adj" fmla="val 50000"/>
            </a:avLst>
          </a:prstGeom>
          <a:solidFill>
            <a:srgbClr val="224F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247C604-2F35-ADF0-47A6-01FA54091E20}"/>
              </a:ext>
            </a:extLst>
          </p:cNvPr>
          <p:cNvSpPr/>
          <p:nvPr/>
        </p:nvSpPr>
        <p:spPr>
          <a:xfrm>
            <a:off x="2724149" y="2803589"/>
            <a:ext cx="6743700" cy="983447"/>
          </a:xfrm>
          <a:prstGeom prst="roundRect">
            <a:avLst>
              <a:gd name="adj" fmla="val 50000"/>
            </a:avLst>
          </a:prstGeom>
          <a:solidFill>
            <a:srgbClr val="C785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B467D7F-7092-8896-1B9B-7950B14BF406}"/>
              </a:ext>
            </a:extLst>
          </p:cNvPr>
          <p:cNvSpPr/>
          <p:nvPr/>
        </p:nvSpPr>
        <p:spPr>
          <a:xfrm>
            <a:off x="3108403" y="1630077"/>
            <a:ext cx="3625772" cy="41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L" sz="3200" b="1" noProof="0">
                <a:solidFill>
                  <a:schemeClr val="bg1"/>
                </a:solidFill>
                <a:ea typeface="Roboto Light" pitchFamily="34" charset="-122"/>
                <a:cs typeface="Roboto Light" pitchFamily="34" charset="-120"/>
              </a:rPr>
              <a:t>Capa de Aplicación</a:t>
            </a:r>
            <a:endParaRPr lang="es-CL" sz="3200" b="1" noProof="0">
              <a:solidFill>
                <a:schemeClr val="bg1"/>
              </a:solidFill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E0F9173-8EF7-E111-6D83-354269C70DCF}"/>
              </a:ext>
            </a:extLst>
          </p:cNvPr>
          <p:cNvSpPr/>
          <p:nvPr/>
        </p:nvSpPr>
        <p:spPr>
          <a:xfrm>
            <a:off x="3108403" y="2824500"/>
            <a:ext cx="3105151" cy="41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L" sz="3200" b="1" noProof="0">
                <a:solidFill>
                  <a:schemeClr val="bg1"/>
                </a:solidFill>
                <a:ea typeface="Roboto Light" pitchFamily="34" charset="-122"/>
                <a:cs typeface="Roboto Light" pitchFamily="34" charset="-120"/>
              </a:rPr>
              <a:t>Capa de Soporte</a:t>
            </a:r>
            <a:endParaRPr lang="es-CL" sz="3200" b="1" noProof="0">
              <a:solidFill>
                <a:schemeClr val="bg1"/>
              </a:solidFill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FB09B71-2CAF-4AF5-8DFA-1424D2F335E2}"/>
              </a:ext>
            </a:extLst>
          </p:cNvPr>
          <p:cNvSpPr/>
          <p:nvPr/>
        </p:nvSpPr>
        <p:spPr>
          <a:xfrm>
            <a:off x="3108403" y="4131719"/>
            <a:ext cx="4229099" cy="41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L" sz="3200" b="1" noProof="0">
                <a:solidFill>
                  <a:schemeClr val="bg1"/>
                </a:solidFill>
                <a:ea typeface="Roboto Light" pitchFamily="34" charset="-122"/>
                <a:cs typeface="Roboto Light" pitchFamily="34" charset="-120"/>
              </a:rPr>
              <a:t>Capa de Comunicación</a:t>
            </a:r>
            <a:endParaRPr lang="es-CL" sz="3200" b="1" noProof="0">
              <a:solidFill>
                <a:schemeClr val="bg1"/>
              </a:solidFill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F82AAD51-85D1-46D8-C190-98E7692B1C80}"/>
              </a:ext>
            </a:extLst>
          </p:cNvPr>
          <p:cNvSpPr/>
          <p:nvPr/>
        </p:nvSpPr>
        <p:spPr>
          <a:xfrm>
            <a:off x="3108403" y="5382541"/>
            <a:ext cx="5181600" cy="41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L" sz="3200" b="1" noProof="0">
                <a:solidFill>
                  <a:schemeClr val="bg1"/>
                </a:solidFill>
                <a:ea typeface="Roboto Light" pitchFamily="34" charset="-122"/>
                <a:cs typeface="Roboto Light" pitchFamily="34" charset="-120"/>
              </a:rPr>
              <a:t>Capa de obtención de datos</a:t>
            </a:r>
            <a:endParaRPr lang="es-CL" sz="3200" b="1" noProof="0">
              <a:solidFill>
                <a:schemeClr val="bg1"/>
              </a:solidFill>
            </a:endParaRPr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5B20FD36-C767-BE51-AFD6-CBA407C336B3}"/>
              </a:ext>
            </a:extLst>
          </p:cNvPr>
          <p:cNvSpPr txBox="1">
            <a:spLocks/>
          </p:cNvSpPr>
          <p:nvPr/>
        </p:nvSpPr>
        <p:spPr>
          <a:xfrm>
            <a:off x="1542182" y="5912808"/>
            <a:ext cx="758105" cy="61516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200" noProof="0">
                <a:solidFill>
                  <a:schemeClr val="bg1"/>
                </a:solidFill>
              </a:rPr>
              <a:t>1</a:t>
            </a:r>
            <a:endParaRPr lang="es-CL" sz="2400" noProof="0">
              <a:solidFill>
                <a:schemeClr val="bg1"/>
              </a:solidFill>
            </a:endParaRP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4D30D242-1ED9-454D-5F3A-87D40CD95FBD}"/>
              </a:ext>
            </a:extLst>
          </p:cNvPr>
          <p:cNvSpPr txBox="1">
            <a:spLocks/>
          </p:cNvSpPr>
          <p:nvPr/>
        </p:nvSpPr>
        <p:spPr>
          <a:xfrm>
            <a:off x="1666439" y="4619211"/>
            <a:ext cx="509589" cy="5695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200" noProof="0">
                <a:solidFill>
                  <a:schemeClr val="tx1"/>
                </a:solidFill>
              </a:rPr>
              <a:t>2</a:t>
            </a:r>
            <a:endParaRPr lang="es-CL" sz="2400" noProof="0">
              <a:solidFill>
                <a:schemeClr val="tx1"/>
              </a:solidFill>
            </a:endParaRP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7D4C485B-DFFF-3A67-861F-072004F9E4DA}"/>
              </a:ext>
            </a:extLst>
          </p:cNvPr>
          <p:cNvSpPr txBox="1">
            <a:spLocks/>
          </p:cNvSpPr>
          <p:nvPr/>
        </p:nvSpPr>
        <p:spPr>
          <a:xfrm>
            <a:off x="1626831" y="3367754"/>
            <a:ext cx="549197" cy="45902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200">
                <a:solidFill>
                  <a:schemeClr val="tx1"/>
                </a:solidFill>
              </a:rPr>
              <a:t>3</a:t>
            </a:r>
            <a:endParaRPr lang="es-CL" sz="3200" noProof="0">
              <a:solidFill>
                <a:schemeClr val="tx1"/>
              </a:solidFill>
            </a:endParaRP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BF135CFA-F946-168A-E098-26A4F207A47F}"/>
              </a:ext>
            </a:extLst>
          </p:cNvPr>
          <p:cNvSpPr txBox="1">
            <a:spLocks/>
          </p:cNvSpPr>
          <p:nvPr/>
        </p:nvSpPr>
        <p:spPr>
          <a:xfrm>
            <a:off x="1641871" y="2025894"/>
            <a:ext cx="558723" cy="46751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s-CL" sz="3200">
                <a:solidFill>
                  <a:schemeClr val="tx1"/>
                </a:solidFill>
              </a:rPr>
              <a:t>4</a:t>
            </a:r>
            <a:endParaRPr lang="es-CL" sz="3200" noProof="0">
              <a:solidFill>
                <a:schemeClr val="tx1"/>
              </a:solidFill>
            </a:endParaRP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B1CD519E-2209-4402-BF97-0DC91B4C8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611" y="1364162"/>
            <a:ext cx="1324622" cy="1324622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BA425683-339C-BDC7-850B-3AB3020AC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985" y="2688784"/>
            <a:ext cx="1285875" cy="1285875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6965A49A-8EC4-1F45-ED72-1E46D6625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985" y="3977633"/>
            <a:ext cx="1285875" cy="1285875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A85A6D02-F949-30DA-83DA-C3BB19F5E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611" y="5118657"/>
            <a:ext cx="1324622" cy="1324622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:a16="http://schemas.microsoft.com/office/drawing/2014/main" id="{3458B92E-99C3-6DB2-B823-2A3C747253E8}"/>
              </a:ext>
            </a:extLst>
          </p:cNvPr>
          <p:cNvSpPr txBox="1"/>
          <p:nvPr/>
        </p:nvSpPr>
        <p:spPr>
          <a:xfrm>
            <a:off x="3082964" y="4625884"/>
            <a:ext cx="3803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>
                <a:solidFill>
                  <a:schemeClr val="bg1"/>
                </a:solidFill>
              </a:rPr>
              <a:t>Protocolo </a:t>
            </a:r>
            <a:r>
              <a:rPr lang="es-CL" err="1">
                <a:solidFill>
                  <a:schemeClr val="bg1"/>
                </a:solidFill>
              </a:rPr>
              <a:t>Zigbee</a:t>
            </a:r>
            <a:r>
              <a:rPr lang="es-CL">
                <a:solidFill>
                  <a:schemeClr val="bg1"/>
                </a:solidFill>
              </a:rPr>
              <a:t> Smart Home. 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ACC0154-A0B6-6DE6-69B0-8104B55F3880}"/>
              </a:ext>
            </a:extLst>
          </p:cNvPr>
          <p:cNvSpPr txBox="1"/>
          <p:nvPr/>
        </p:nvSpPr>
        <p:spPr>
          <a:xfrm>
            <a:off x="3082963" y="3301994"/>
            <a:ext cx="5420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>
                <a:solidFill>
                  <a:schemeClr val="bg1"/>
                </a:solidFill>
              </a:rPr>
              <a:t>Procesamiento de datos y aprendizaje del modelo.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0F8E099-2093-D55D-25C2-695E107371E0}"/>
              </a:ext>
            </a:extLst>
          </p:cNvPr>
          <p:cNvSpPr txBox="1"/>
          <p:nvPr/>
        </p:nvSpPr>
        <p:spPr>
          <a:xfrm>
            <a:off x="3108403" y="2092359"/>
            <a:ext cx="4378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>
                <a:solidFill>
                  <a:schemeClr val="bg1"/>
                </a:solidFill>
              </a:rPr>
              <a:t>Despliegue en </a:t>
            </a:r>
            <a:r>
              <a:rPr lang="es-CL" err="1">
                <a:solidFill>
                  <a:schemeClr val="bg1"/>
                </a:solidFill>
              </a:rPr>
              <a:t>dashboard</a:t>
            </a:r>
            <a:r>
              <a:rPr lang="es-CL">
                <a:solidFill>
                  <a:schemeClr val="bg1"/>
                </a:solidFill>
              </a:rPr>
              <a:t> y resultados. 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8832529-39C4-5102-8C96-843B72686446}"/>
              </a:ext>
            </a:extLst>
          </p:cNvPr>
          <p:cNvSpPr txBox="1"/>
          <p:nvPr/>
        </p:nvSpPr>
        <p:spPr>
          <a:xfrm>
            <a:off x="3108403" y="5826971"/>
            <a:ext cx="4378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>
                <a:solidFill>
                  <a:schemeClr val="bg1"/>
                </a:solidFill>
              </a:rPr>
              <a:t>Sensores, Esp32, Dispositivos </a:t>
            </a:r>
            <a:r>
              <a:rPr lang="es-CL" err="1">
                <a:solidFill>
                  <a:schemeClr val="bg1"/>
                </a:solidFill>
              </a:rPr>
              <a:t>IoT</a:t>
            </a:r>
            <a:r>
              <a:rPr lang="es-CL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4421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E7A4-7FBF-1CB8-3CFB-DC9BB35F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2A2824F2-1AD9-1285-7496-11750CAD5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407" y="6605081"/>
            <a:ext cx="995461" cy="359923"/>
          </a:xfrm>
          <a:prstGeom prst="rect">
            <a:avLst/>
          </a:prstGeom>
        </p:spPr>
      </p:pic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24ED0DA8-4C54-064E-85A4-0FCEE698651A}"/>
              </a:ext>
            </a:extLst>
          </p:cNvPr>
          <p:cNvSpPr txBox="1">
            <a:spLocks/>
          </p:cNvSpPr>
          <p:nvPr/>
        </p:nvSpPr>
        <p:spPr>
          <a:xfrm>
            <a:off x="527304" y="541100"/>
            <a:ext cx="5461909" cy="519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600" noProof="0"/>
              <a:t>Dispositivos a ocupar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017163D-C88A-6A63-4757-2E25E66E0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645770" y="1114430"/>
            <a:ext cx="5364000" cy="62804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F1290A2-2E1D-A903-6D26-D7FBA038B741}"/>
              </a:ext>
            </a:extLst>
          </p:cNvPr>
          <p:cNvSpPr/>
          <p:nvPr/>
        </p:nvSpPr>
        <p:spPr>
          <a:xfrm>
            <a:off x="420748" y="2323622"/>
            <a:ext cx="2375560" cy="205835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B04D74E-F4E0-B673-5240-DA512EB8DABF}"/>
              </a:ext>
            </a:extLst>
          </p:cNvPr>
          <p:cNvSpPr/>
          <p:nvPr/>
        </p:nvSpPr>
        <p:spPr>
          <a:xfrm>
            <a:off x="3449026" y="2333782"/>
            <a:ext cx="2375560" cy="2058356"/>
          </a:xfrm>
          <a:prstGeom prst="roundRect">
            <a:avLst/>
          </a:prstGeom>
          <a:solidFill>
            <a:srgbClr val="F7A6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BCD39A9-05EC-49A1-3935-A243B26AE028}"/>
              </a:ext>
            </a:extLst>
          </p:cNvPr>
          <p:cNvSpPr/>
          <p:nvPr/>
        </p:nvSpPr>
        <p:spPr>
          <a:xfrm>
            <a:off x="6477305" y="2333782"/>
            <a:ext cx="2385720" cy="2058356"/>
          </a:xfrm>
          <a:prstGeom prst="roundRect">
            <a:avLst/>
          </a:prstGeom>
          <a:solidFill>
            <a:srgbClr val="2A62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46480BC-BE19-5B53-D55D-4D4FFCF35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248" y="2353273"/>
            <a:ext cx="1940560" cy="197104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ECFB578-F44B-2C40-B777-F4EA4CB8ECA7}"/>
              </a:ext>
            </a:extLst>
          </p:cNvPr>
          <p:cNvSpPr txBox="1"/>
          <p:nvPr/>
        </p:nvSpPr>
        <p:spPr>
          <a:xfrm>
            <a:off x="497840" y="4521200"/>
            <a:ext cx="221488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400" b="1">
                <a:ea typeface="+mn-lt"/>
                <a:cs typeface="+mn-lt"/>
              </a:rPr>
              <a:t>Modulo Sensor Humedad-Temperatura DHT22 AM2302</a:t>
            </a:r>
            <a:endParaRPr lang="es-ES" sz="1400" b="1">
              <a:ea typeface="Open Sans Light"/>
              <a:cs typeface="Open Sans Light"/>
            </a:endParaRPr>
          </a:p>
        </p:txBody>
      </p:sp>
      <p:pic>
        <p:nvPicPr>
          <p:cNvPr id="5" name="Imagen 4" descr="ESP32-C6-DevKitC-1 v1.2 - ESP32-C6 - — esp-dev-kits latest documentation">
            <a:extLst>
              <a:ext uri="{FF2B5EF4-FFF2-40B4-BE49-F238E27FC236}">
                <a16:creationId xmlns:a16="http://schemas.microsoft.com/office/drawing/2014/main" id="{35C778B8-9073-4565-29EF-CD5F7A8D5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059" y="2484438"/>
            <a:ext cx="1781175" cy="151320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45C5B8F-A4AB-5EE2-E043-F48ADCE89876}"/>
              </a:ext>
            </a:extLst>
          </p:cNvPr>
          <p:cNvSpPr txBox="1"/>
          <p:nvPr/>
        </p:nvSpPr>
        <p:spPr>
          <a:xfrm>
            <a:off x="3576320" y="4536440"/>
            <a:ext cx="237744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Open Sans Light"/>
                <a:ea typeface="Open Sans Light"/>
                <a:cs typeface="Open Sans Light"/>
              </a:rPr>
              <a:t>ESP32-C6-DevKitC-1 v1.2</a:t>
            </a:r>
          </a:p>
          <a:p>
            <a:pPr algn="ctr"/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23D6912-FC49-B4FF-75B8-B8156FF1D3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094" b="95156" l="5625" r="90000">
                        <a14:foregroundMark x1="17031" y1="22656" x2="17031" y2="22656"/>
                        <a14:foregroundMark x1="70000" y1="32813" x2="70000" y2="32813"/>
                        <a14:foregroundMark x1="60781" y1="40313" x2="60781" y2="40313"/>
                        <a14:foregroundMark x1="73594" y1="17500" x2="73594" y2="17500"/>
                        <a14:foregroundMark x1="79688" y1="16563" x2="85938" y2="13906"/>
                        <a14:foregroundMark x1="73125" y1="23125" x2="78438" y2="6406"/>
                        <a14:foregroundMark x1="78438" y1="6406" x2="78438" y2="6094"/>
                        <a14:foregroundMark x1="37969" y1="11250" x2="37969" y2="8750"/>
                        <a14:foregroundMark x1="40156" y1="16563" x2="40156" y2="16563"/>
                        <a14:foregroundMark x1="39844" y1="19688" x2="41094" y2="22656"/>
                        <a14:foregroundMark x1="5625" y1="29375" x2="6875" y2="28906"/>
                        <a14:foregroundMark x1="10313" y1="35000" x2="20469" y2="37188"/>
                        <a14:foregroundMark x1="18750" y1="36250" x2="25781" y2="37188"/>
                        <a14:foregroundMark x1="23594" y1="37656" x2="30938" y2="33281"/>
                        <a14:foregroundMark x1="30938" y1="34531" x2="40156" y2="13906"/>
                        <a14:foregroundMark x1="40156" y1="13906" x2="40625" y2="9531"/>
                        <a14:foregroundMark x1="39375" y1="7813" x2="43281" y2="14375"/>
                        <a14:foregroundMark x1="31875" y1="90781" x2="39844" y2="93438"/>
                        <a14:foregroundMark x1="35469" y1="93750" x2="36250" y2="95156"/>
                        <a14:foregroundMark x1="7344" y1="31094" x2="23594" y2="37188"/>
                        <a14:foregroundMark x1="30156" y1="6094" x2="44063" y2="17500"/>
                        <a14:foregroundMark x1="44063" y1="17500" x2="42813" y2="178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68228" y="2489903"/>
            <a:ext cx="1644514" cy="168515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6AAC5ED-345F-F78E-6410-AA6E6DE3F9EB}"/>
              </a:ext>
            </a:extLst>
          </p:cNvPr>
          <p:cNvSpPr txBox="1"/>
          <p:nvPr/>
        </p:nvSpPr>
        <p:spPr>
          <a:xfrm>
            <a:off x="6654800" y="4582160"/>
            <a:ext cx="20218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400" b="1">
                <a:solidFill>
                  <a:srgbClr val="191919"/>
                </a:solidFill>
                <a:latin typeface="Open Sans Light"/>
                <a:ea typeface="TT Norms Pro"/>
                <a:cs typeface="TT Norms Pro"/>
              </a:rPr>
              <a:t>ZigBee Smart </a:t>
            </a:r>
            <a:r>
              <a:rPr lang="es-ES" sz="1400" b="1" err="1">
                <a:solidFill>
                  <a:srgbClr val="191919"/>
                </a:solidFill>
                <a:latin typeface="Open Sans Light"/>
                <a:ea typeface="TT Norms Pro"/>
                <a:cs typeface="TT Norms Pro"/>
              </a:rPr>
              <a:t>Roller</a:t>
            </a:r>
            <a:r>
              <a:rPr lang="es-ES" sz="1400" b="1">
                <a:solidFill>
                  <a:srgbClr val="191919"/>
                </a:solidFill>
                <a:latin typeface="Open Sans Light"/>
                <a:ea typeface="TT Norms Pro"/>
                <a:cs typeface="TT Norms Pro"/>
              </a:rPr>
              <a:t> </a:t>
            </a:r>
            <a:r>
              <a:rPr lang="es-ES" sz="1400" b="1" err="1">
                <a:solidFill>
                  <a:srgbClr val="191919"/>
                </a:solidFill>
                <a:latin typeface="Open Sans Light"/>
                <a:ea typeface="TT Norms Pro"/>
                <a:cs typeface="TT Norms Pro"/>
              </a:rPr>
              <a:t>Blind</a:t>
            </a:r>
            <a:r>
              <a:rPr lang="es-ES" sz="1400" b="1">
                <a:solidFill>
                  <a:srgbClr val="191919"/>
                </a:solidFill>
                <a:latin typeface="Open Sans Light"/>
                <a:ea typeface="TT Norms Pro"/>
                <a:cs typeface="TT Norms Pro"/>
              </a:rPr>
              <a:t> Motor</a:t>
            </a:r>
            <a:endParaRPr lang="es-ES" sz="1400" b="1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1AAC78D-63BC-658B-2325-1AB0AE0F1EB0}"/>
              </a:ext>
            </a:extLst>
          </p:cNvPr>
          <p:cNvSpPr/>
          <p:nvPr/>
        </p:nvSpPr>
        <p:spPr>
          <a:xfrm>
            <a:off x="9544428" y="2272822"/>
            <a:ext cx="2223160" cy="2119316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6EB3991-2FF5-D395-B8BD-55E4232FD008}"/>
              </a:ext>
            </a:extLst>
          </p:cNvPr>
          <p:cNvSpPr txBox="1"/>
          <p:nvPr/>
        </p:nvSpPr>
        <p:spPr>
          <a:xfrm>
            <a:off x="9357360" y="4518660"/>
            <a:ext cx="260096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400" b="1">
                <a:ea typeface="+mn-lt"/>
                <a:cs typeface="+mn-lt"/>
              </a:rPr>
              <a:t>Sensor de contacto magnético puerta/ventana</a:t>
            </a:r>
            <a:endParaRPr lang="es-ES" sz="1400" b="1">
              <a:ea typeface="Open Sans Light"/>
              <a:cs typeface="Open Sans Light"/>
            </a:endParaRPr>
          </a:p>
        </p:txBody>
      </p:sp>
      <p:pic>
        <p:nvPicPr>
          <p:cNvPr id="19" name="Imagen 18" descr="Imagen que contiene arma&#10;&#10;El contenido generado por IA puede ser incorrecto.">
            <a:extLst>
              <a:ext uri="{FF2B5EF4-FFF2-40B4-BE49-F238E27FC236}">
                <a16:creationId xmlns:a16="http://schemas.microsoft.com/office/drawing/2014/main" id="{D2242C60-4527-DB50-147F-136340FC31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2969">
                        <a14:foregroundMark x1="17656" y1="55313" x2="44688" y2="71719"/>
                        <a14:foregroundMark x1="90625" y1="44688" x2="91563" y2="50000"/>
                        <a14:foregroundMark x1="92656" y1="32656" x2="92656" y2="32656"/>
                        <a14:foregroundMark x1="92969" y1="49375" x2="92188" y2="45625"/>
                      </a14:backgroundRemoval>
                    </a14:imgEffect>
                  </a14:imgLayer>
                </a14:imgProps>
              </a:ext>
            </a:extLst>
          </a:blip>
          <a:srcRect t="17512" b="12845"/>
          <a:stretch>
            <a:fillRect/>
          </a:stretch>
        </p:blipFill>
        <p:spPr>
          <a:xfrm>
            <a:off x="9601609" y="2490684"/>
            <a:ext cx="2098638" cy="146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54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51903-D8B1-A9AF-B5DD-CC617D00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E2176258-EEF2-F4EE-2FE0-58E3457D7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407" y="6605081"/>
            <a:ext cx="995461" cy="359923"/>
          </a:xfrm>
          <a:prstGeom prst="rect">
            <a:avLst/>
          </a:prstGeom>
        </p:spPr>
      </p:pic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4AE27600-6451-C5D5-5BE2-1BCEDDEAA478}"/>
              </a:ext>
            </a:extLst>
          </p:cNvPr>
          <p:cNvSpPr txBox="1">
            <a:spLocks/>
          </p:cNvSpPr>
          <p:nvPr/>
        </p:nvSpPr>
        <p:spPr>
          <a:xfrm>
            <a:off x="555849" y="334968"/>
            <a:ext cx="3214009" cy="519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600" noProof="0"/>
              <a:t>Metodología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B1F95E3-7336-4DE2-F99B-D8CA7CB3D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91770" y="913688"/>
            <a:ext cx="3240000" cy="37937"/>
          </a:xfrm>
          <a:prstGeom prst="rect">
            <a:avLst/>
          </a:prstGeom>
        </p:spPr>
      </p:pic>
      <p:sp>
        <p:nvSpPr>
          <p:cNvPr id="3" name="Flecha: cheurón 2">
            <a:extLst>
              <a:ext uri="{FF2B5EF4-FFF2-40B4-BE49-F238E27FC236}">
                <a16:creationId xmlns:a16="http://schemas.microsoft.com/office/drawing/2014/main" id="{D4ECF3D5-90E0-878B-C92E-27A739701BDB}"/>
              </a:ext>
            </a:extLst>
          </p:cNvPr>
          <p:cNvSpPr/>
          <p:nvPr/>
        </p:nvSpPr>
        <p:spPr>
          <a:xfrm>
            <a:off x="3769858" y="3056729"/>
            <a:ext cx="4600577" cy="2363791"/>
          </a:xfrm>
          <a:prstGeom prst="chevron">
            <a:avLst/>
          </a:prstGeom>
          <a:solidFill>
            <a:srgbClr val="F7A6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fontAlgn="base">
              <a:buAutoNum type="arabicPeriod"/>
            </a:pPr>
            <a:r>
              <a:rPr lang="es-CL" sz="1600">
                <a:latin typeface="+mj-lt"/>
              </a:rPr>
              <a:t>Filtración y manejo de datos para preparar entrenamiento</a:t>
            </a:r>
            <a:endParaRPr lang="en-US" sz="1600">
              <a:latin typeface="+mj-lt"/>
            </a:endParaRPr>
          </a:p>
          <a:p>
            <a:pPr marL="342900" indent="-342900" fontAlgn="base">
              <a:buAutoNum type="arabicPeriod"/>
            </a:pPr>
            <a:r>
              <a:rPr lang="es-MX" sz="1600">
                <a:latin typeface="+mj-lt"/>
              </a:rPr>
              <a:t>Generar modelo predictivo con aprendizaje automático.​</a:t>
            </a:r>
            <a:endParaRPr lang="en-US" sz="1600">
              <a:latin typeface="+mj-lt"/>
            </a:endParaRPr>
          </a:p>
          <a:p>
            <a:pPr fontAlgn="base"/>
            <a:endParaRPr lang="en-US" sz="1400">
              <a:latin typeface="+mj-lt"/>
            </a:endParaRPr>
          </a:p>
        </p:txBody>
      </p:sp>
      <p:sp>
        <p:nvSpPr>
          <p:cNvPr id="4" name="Flecha: cheurón 3">
            <a:extLst>
              <a:ext uri="{FF2B5EF4-FFF2-40B4-BE49-F238E27FC236}">
                <a16:creationId xmlns:a16="http://schemas.microsoft.com/office/drawing/2014/main" id="{25FD2A9F-B301-CAD4-24C6-A6C064B84C6B}"/>
              </a:ext>
            </a:extLst>
          </p:cNvPr>
          <p:cNvSpPr/>
          <p:nvPr/>
        </p:nvSpPr>
        <p:spPr>
          <a:xfrm>
            <a:off x="123825" y="3056728"/>
            <a:ext cx="4600577" cy="2363791"/>
          </a:xfrm>
          <a:prstGeom prst="chevr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noProof="0">
                <a:solidFill>
                  <a:schemeClr val="bg1"/>
                </a:solidFill>
                <a:latin typeface="+mj-lt"/>
              </a:rPr>
              <a:t>Investigación y </a:t>
            </a:r>
            <a:r>
              <a:rPr lang="es-CL" noProof="0" err="1">
                <a:solidFill>
                  <a:schemeClr val="bg1"/>
                </a:solidFill>
                <a:latin typeface="+mj-lt"/>
              </a:rPr>
              <a:t>obtenc</a:t>
            </a:r>
            <a:r>
              <a:rPr lang="es-CL" err="1">
                <a:solidFill>
                  <a:schemeClr val="bg1"/>
                </a:solidFill>
                <a:latin typeface="+mj-lt"/>
              </a:rPr>
              <a:t>ión</a:t>
            </a:r>
            <a:r>
              <a:rPr lang="es-CL">
                <a:solidFill>
                  <a:schemeClr val="bg1"/>
                </a:solidFill>
                <a:latin typeface="+mj-lt"/>
              </a:rPr>
              <a:t> de </a:t>
            </a:r>
            <a:r>
              <a:rPr lang="es-CL" err="1">
                <a:solidFill>
                  <a:schemeClr val="bg1"/>
                </a:solidFill>
                <a:latin typeface="+mj-lt"/>
              </a:rPr>
              <a:t>dataset</a:t>
            </a:r>
            <a:r>
              <a:rPr lang="es-CL">
                <a:solidFill>
                  <a:schemeClr val="bg1"/>
                </a:solidFill>
                <a:latin typeface="+mj-lt"/>
              </a:rPr>
              <a:t> de datos</a:t>
            </a:r>
          </a:p>
          <a:p>
            <a:pPr algn="ctr"/>
            <a:r>
              <a:rPr lang="es-CL" noProof="0">
                <a:solidFill>
                  <a:schemeClr val="bg1"/>
                </a:solidFill>
                <a:latin typeface="+mj-lt"/>
              </a:rPr>
              <a:t>(ASHRAE DB II)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7" name="Flecha: cheurón 6">
            <a:extLst>
              <a:ext uri="{FF2B5EF4-FFF2-40B4-BE49-F238E27FC236}">
                <a16:creationId xmlns:a16="http://schemas.microsoft.com/office/drawing/2014/main" id="{7668CFC6-0151-1AE6-978E-E503883DDEAF}"/>
              </a:ext>
            </a:extLst>
          </p:cNvPr>
          <p:cNvSpPr/>
          <p:nvPr/>
        </p:nvSpPr>
        <p:spPr>
          <a:xfrm>
            <a:off x="7415891" y="3056727"/>
            <a:ext cx="4600577" cy="2363791"/>
          </a:xfrm>
          <a:prstGeom prst="chevron">
            <a:avLst/>
          </a:prstGeom>
          <a:solidFill>
            <a:srgbClr val="2A62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CL" noProof="0">
                <a:latin typeface="+mj-lt"/>
              </a:rPr>
              <a:t>Despliegue de </a:t>
            </a:r>
            <a:r>
              <a:rPr lang="es-CL" noProof="0" err="1">
                <a:latin typeface="+mj-lt"/>
              </a:rPr>
              <a:t>dashboard</a:t>
            </a:r>
            <a:r>
              <a:rPr lang="es-CL" noProof="0">
                <a:latin typeface="+mj-lt"/>
              </a:rPr>
              <a:t> interactivo de variables con salida de temperatura ideal para PMV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63CE9058-3A62-6492-412A-8BBF4096348A}"/>
              </a:ext>
            </a:extLst>
          </p:cNvPr>
          <p:cNvSpPr txBox="1">
            <a:spLocks/>
          </p:cNvSpPr>
          <p:nvPr/>
        </p:nvSpPr>
        <p:spPr>
          <a:xfrm>
            <a:off x="830717" y="1568901"/>
            <a:ext cx="2625502" cy="1123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s-CL" sz="3200" noProof="0">
                <a:solidFill>
                  <a:schemeClr val="tx1"/>
                </a:solidFill>
              </a:rPr>
              <a:t>Obtención </a:t>
            </a:r>
          </a:p>
          <a:p>
            <a:pPr algn="ctr">
              <a:lnSpc>
                <a:spcPct val="100000"/>
              </a:lnSpc>
            </a:pPr>
            <a:r>
              <a:rPr lang="es-CL" sz="3200" noProof="0">
                <a:solidFill>
                  <a:schemeClr val="tx1"/>
                </a:solidFill>
              </a:rPr>
              <a:t>de datos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D5AB856-E9DB-8AC3-3A20-01A29835E110}"/>
              </a:ext>
            </a:extLst>
          </p:cNvPr>
          <p:cNvSpPr txBox="1">
            <a:spLocks/>
          </p:cNvSpPr>
          <p:nvPr/>
        </p:nvSpPr>
        <p:spPr>
          <a:xfrm>
            <a:off x="8071074" y="1693541"/>
            <a:ext cx="3290209" cy="99931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800" err="1">
                <a:solidFill>
                  <a:schemeClr val="tx1"/>
                </a:solidFill>
              </a:rPr>
              <a:t>SmartHome</a:t>
            </a:r>
            <a:endParaRPr lang="es-CL" sz="2800">
              <a:solidFill>
                <a:schemeClr val="tx1"/>
              </a:solidFill>
            </a:endParaRPr>
          </a:p>
          <a:p>
            <a:pPr algn="ctr"/>
            <a:r>
              <a:rPr lang="es-CL" sz="2800" err="1">
                <a:solidFill>
                  <a:schemeClr val="tx1"/>
                </a:solidFill>
              </a:rPr>
              <a:t>Dashboard</a:t>
            </a:r>
            <a:endParaRPr lang="es-CL" sz="2800">
              <a:solidFill>
                <a:schemeClr val="tx1"/>
              </a:solidFill>
            </a:endParaRP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52F6FB6D-4A1C-1256-4AD2-C8F616C73FEA}"/>
              </a:ext>
            </a:extLst>
          </p:cNvPr>
          <p:cNvSpPr txBox="1">
            <a:spLocks/>
          </p:cNvSpPr>
          <p:nvPr/>
        </p:nvSpPr>
        <p:spPr>
          <a:xfrm>
            <a:off x="4310741" y="1576016"/>
            <a:ext cx="3518809" cy="12101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800" noProof="0">
                <a:solidFill>
                  <a:schemeClr val="tx1"/>
                </a:solidFill>
              </a:rPr>
              <a:t>Procesamiento y entrenamiento de datos</a:t>
            </a:r>
          </a:p>
        </p:txBody>
      </p:sp>
    </p:spTree>
    <p:extLst>
      <p:ext uri="{BB962C8B-B14F-4D97-AF65-F5344CB8AC3E}">
        <p14:creationId xmlns:p14="http://schemas.microsoft.com/office/powerpoint/2010/main" val="4065545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491F-5AD9-979F-D26D-FE9EDB55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E871D2C-502F-91FD-0131-46D8EAB8E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407" y="6605081"/>
            <a:ext cx="995461" cy="359923"/>
          </a:xfrm>
          <a:prstGeom prst="rect">
            <a:avLst/>
          </a:prstGeom>
        </p:spPr>
      </p:pic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2C57BFF1-65BB-1F65-9F94-8B84566F6C5F}"/>
              </a:ext>
            </a:extLst>
          </p:cNvPr>
          <p:cNvSpPr txBox="1">
            <a:spLocks/>
          </p:cNvSpPr>
          <p:nvPr/>
        </p:nvSpPr>
        <p:spPr>
          <a:xfrm>
            <a:off x="555849" y="334968"/>
            <a:ext cx="3214009" cy="519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600" noProof="0"/>
              <a:t>Metodología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81D9304-C0DE-B63B-B644-A6D5A99DC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91770" y="913688"/>
            <a:ext cx="3240000" cy="37937"/>
          </a:xfrm>
          <a:prstGeom prst="rect">
            <a:avLst/>
          </a:prstGeom>
        </p:spPr>
      </p:pic>
      <p:sp>
        <p:nvSpPr>
          <p:cNvPr id="2" name="Text Placeholder 29">
            <a:extLst>
              <a:ext uri="{FF2B5EF4-FFF2-40B4-BE49-F238E27FC236}">
                <a16:creationId xmlns:a16="http://schemas.microsoft.com/office/drawing/2014/main" id="{4B27A273-B852-0C61-1AC8-D983F23D7F2B}"/>
              </a:ext>
            </a:extLst>
          </p:cNvPr>
          <p:cNvSpPr txBox="1">
            <a:spLocks/>
          </p:cNvSpPr>
          <p:nvPr/>
        </p:nvSpPr>
        <p:spPr>
          <a:xfrm>
            <a:off x="319766" y="1143329"/>
            <a:ext cx="3512004" cy="3599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400" noProof="0">
                <a:solidFill>
                  <a:srgbClr val="F7A617"/>
                </a:solidFill>
              </a:rPr>
              <a:t>Variables de estudio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4BAA5D0-FCB7-B1EC-8F7F-24B88AA7C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298" y="1458935"/>
            <a:ext cx="9791405" cy="455501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7421475-6E84-18B7-1A45-A727D51EC3C3}"/>
              </a:ext>
            </a:extLst>
          </p:cNvPr>
          <p:cNvSpPr txBox="1"/>
          <p:nvPr/>
        </p:nvSpPr>
        <p:spPr>
          <a:xfrm>
            <a:off x="2816805" y="6184478"/>
            <a:ext cx="65583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600" i="1" u="none" strike="noStrike" noProof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Matriz de datos de </a:t>
            </a:r>
            <a:r>
              <a:rPr lang="en-US" sz="1600" b="1" i="1" u="none" strike="noStrike" noProof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ASHRAE Global Thermal Comfort Database</a:t>
            </a:r>
            <a:endParaRPr lang="es-CL" sz="1600" b="1" i="1" noProof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062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2491-7020-2274-5F73-7205DFBA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CAA8F16-0A61-AC16-DB1F-A711E6454407}"/>
              </a:ext>
            </a:extLst>
          </p:cNvPr>
          <p:cNvSpPr/>
          <p:nvPr/>
        </p:nvSpPr>
        <p:spPr>
          <a:xfrm>
            <a:off x="319766" y="2222989"/>
            <a:ext cx="4303034" cy="2591289"/>
          </a:xfrm>
          <a:prstGeom prst="roundRect">
            <a:avLst/>
          </a:prstGeom>
          <a:noFill/>
          <a:ln w="571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037A343-977D-6302-AC03-CDA23EA08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407" y="6605081"/>
            <a:ext cx="995461" cy="359923"/>
          </a:xfrm>
          <a:prstGeom prst="rect">
            <a:avLst/>
          </a:prstGeom>
        </p:spPr>
      </p:pic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E7DA9E59-AF09-F42F-68B4-532930BAE21B}"/>
              </a:ext>
            </a:extLst>
          </p:cNvPr>
          <p:cNvSpPr txBox="1">
            <a:spLocks/>
          </p:cNvSpPr>
          <p:nvPr/>
        </p:nvSpPr>
        <p:spPr>
          <a:xfrm>
            <a:off x="555849" y="334968"/>
            <a:ext cx="3214009" cy="519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600" noProof="0"/>
              <a:t>Metodología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34355F4-9F3A-BF63-B0B4-188F1584B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91770" y="913688"/>
            <a:ext cx="3240000" cy="37937"/>
          </a:xfrm>
          <a:prstGeom prst="rect">
            <a:avLst/>
          </a:prstGeom>
        </p:spPr>
      </p:pic>
      <p:sp>
        <p:nvSpPr>
          <p:cNvPr id="2" name="Text Placeholder 29">
            <a:extLst>
              <a:ext uri="{FF2B5EF4-FFF2-40B4-BE49-F238E27FC236}">
                <a16:creationId xmlns:a16="http://schemas.microsoft.com/office/drawing/2014/main" id="{B4ECACF0-3C28-26B4-3B03-19D9C3B4EA18}"/>
              </a:ext>
            </a:extLst>
          </p:cNvPr>
          <p:cNvSpPr txBox="1">
            <a:spLocks/>
          </p:cNvSpPr>
          <p:nvPr/>
        </p:nvSpPr>
        <p:spPr>
          <a:xfrm>
            <a:off x="555849" y="1358836"/>
            <a:ext cx="3512004" cy="3599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400" noProof="0">
                <a:solidFill>
                  <a:srgbClr val="F7A617"/>
                </a:solidFill>
              </a:rPr>
              <a:t>Variables de estudio 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31DC868-068A-A2F9-69CD-A54582540156}"/>
              </a:ext>
            </a:extLst>
          </p:cNvPr>
          <p:cNvSpPr/>
          <p:nvPr/>
        </p:nvSpPr>
        <p:spPr>
          <a:xfrm>
            <a:off x="589728" y="2594218"/>
            <a:ext cx="1836000" cy="79295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Temperatura Radiante</a:t>
            </a:r>
            <a:endParaRPr lang="es-CL" noProof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484BC15-67D4-C007-6E56-8A2775CA1467}"/>
              </a:ext>
            </a:extLst>
          </p:cNvPr>
          <p:cNvSpPr/>
          <p:nvPr/>
        </p:nvSpPr>
        <p:spPr>
          <a:xfrm>
            <a:off x="2532707" y="2594218"/>
            <a:ext cx="1836000" cy="792958"/>
          </a:xfrm>
          <a:prstGeom prst="roundRect">
            <a:avLst/>
          </a:prstGeom>
          <a:solidFill>
            <a:srgbClr val="F7A6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Humedad Relativa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52375DE-D4A9-2D93-5F12-3FE1FF7FB1F4}"/>
              </a:ext>
            </a:extLst>
          </p:cNvPr>
          <p:cNvSpPr/>
          <p:nvPr/>
        </p:nvSpPr>
        <p:spPr>
          <a:xfrm>
            <a:off x="2532707" y="3639343"/>
            <a:ext cx="1836000" cy="792958"/>
          </a:xfrm>
          <a:prstGeom prst="roundRect">
            <a:avLst/>
          </a:prstGeom>
          <a:solidFill>
            <a:srgbClr val="2A62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Velocidad del Aire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06A26D7-8798-DE42-B222-DCB35050202A}"/>
              </a:ext>
            </a:extLst>
          </p:cNvPr>
          <p:cNvSpPr/>
          <p:nvPr/>
        </p:nvSpPr>
        <p:spPr>
          <a:xfrm>
            <a:off x="589728" y="3639343"/>
            <a:ext cx="1836000" cy="79295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PMV_CE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A869A6E3-79C7-6F75-607E-8159036D4A87}"/>
              </a:ext>
            </a:extLst>
          </p:cNvPr>
          <p:cNvSpPr txBox="1">
            <a:spLocks/>
          </p:cNvSpPr>
          <p:nvPr/>
        </p:nvSpPr>
        <p:spPr>
          <a:xfrm>
            <a:off x="609659" y="5066445"/>
            <a:ext cx="3846095" cy="3599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400" noProof="0">
                <a:solidFill>
                  <a:srgbClr val="C00000"/>
                </a:solidFill>
              </a:rPr>
              <a:t>Variables del entorno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88F3895B-3711-42E5-77EF-B19EDCC4FDFB}"/>
              </a:ext>
            </a:extLst>
          </p:cNvPr>
          <p:cNvSpPr txBox="1">
            <a:spLocks/>
          </p:cNvSpPr>
          <p:nvPr/>
        </p:nvSpPr>
        <p:spPr>
          <a:xfrm>
            <a:off x="4952565" y="185969"/>
            <a:ext cx="3214010" cy="7324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400" noProof="0">
                <a:solidFill>
                  <a:srgbClr val="C00000"/>
                </a:solidFill>
              </a:rPr>
              <a:t>Control de los dispositivos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E5284F9-0C72-D7ED-E3D4-A6B670F19EC6}"/>
              </a:ext>
            </a:extLst>
          </p:cNvPr>
          <p:cNvSpPr/>
          <p:nvPr/>
        </p:nvSpPr>
        <p:spPr>
          <a:xfrm>
            <a:off x="5652885" y="1204192"/>
            <a:ext cx="1836000" cy="79295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Cortinas</a:t>
            </a:r>
            <a:endParaRPr lang="es-CL" noProof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1D6B8BB-AFAE-5A4E-3D60-3FE3C8C0BE1F}"/>
              </a:ext>
            </a:extLst>
          </p:cNvPr>
          <p:cNvSpPr/>
          <p:nvPr/>
        </p:nvSpPr>
        <p:spPr>
          <a:xfrm>
            <a:off x="5652885" y="2221669"/>
            <a:ext cx="1836000" cy="792958"/>
          </a:xfrm>
          <a:prstGeom prst="roundRect">
            <a:avLst/>
          </a:prstGeom>
          <a:solidFill>
            <a:srgbClr val="F7A6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Ventilador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2C91DCCD-BC66-D949-1630-3C4024603880}"/>
              </a:ext>
            </a:extLst>
          </p:cNvPr>
          <p:cNvSpPr/>
          <p:nvPr/>
        </p:nvSpPr>
        <p:spPr>
          <a:xfrm>
            <a:off x="5652885" y="3370695"/>
            <a:ext cx="1836000" cy="792958"/>
          </a:xfrm>
          <a:prstGeom prst="roundRect">
            <a:avLst/>
          </a:prstGeom>
          <a:solidFill>
            <a:srgbClr val="2A62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Ventana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3D0C739-B2C7-D8CD-A5CB-B31D018932A9}"/>
              </a:ext>
            </a:extLst>
          </p:cNvPr>
          <p:cNvSpPr/>
          <p:nvPr/>
        </p:nvSpPr>
        <p:spPr>
          <a:xfrm>
            <a:off x="5652885" y="4470810"/>
            <a:ext cx="1836000" cy="79295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Puerta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5488997-3022-39F1-C319-22E02C153245}"/>
              </a:ext>
            </a:extLst>
          </p:cNvPr>
          <p:cNvSpPr/>
          <p:nvPr/>
        </p:nvSpPr>
        <p:spPr>
          <a:xfrm>
            <a:off x="5652885" y="5549504"/>
            <a:ext cx="1836000" cy="79295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Calefactor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491EDB8B-E77B-37C7-36F6-A98BB608FC95}"/>
              </a:ext>
            </a:extLst>
          </p:cNvPr>
          <p:cNvSpPr/>
          <p:nvPr/>
        </p:nvSpPr>
        <p:spPr>
          <a:xfrm>
            <a:off x="5337368" y="1009954"/>
            <a:ext cx="2358832" cy="5467046"/>
          </a:xfrm>
          <a:prstGeom prst="roundRect">
            <a:avLst/>
          </a:prstGeom>
          <a:noFill/>
          <a:ln w="571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71CD0FBF-84BB-2415-BB1F-A0D937FAC784}"/>
              </a:ext>
            </a:extLst>
          </p:cNvPr>
          <p:cNvSpPr txBox="1">
            <a:spLocks/>
          </p:cNvSpPr>
          <p:nvPr/>
        </p:nvSpPr>
        <p:spPr>
          <a:xfrm>
            <a:off x="8822226" y="2407943"/>
            <a:ext cx="2725186" cy="37254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400">
                <a:solidFill>
                  <a:srgbClr val="C00000"/>
                </a:solidFill>
              </a:rPr>
              <a:t>Salida objetivo</a:t>
            </a:r>
            <a:endParaRPr lang="es-CL" sz="2400" noProof="0">
              <a:solidFill>
                <a:srgbClr val="C00000"/>
              </a:solidFill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6D2FD55C-E9A4-E4D1-1735-2A28A126AFA5}"/>
              </a:ext>
            </a:extLst>
          </p:cNvPr>
          <p:cNvSpPr/>
          <p:nvPr/>
        </p:nvSpPr>
        <p:spPr>
          <a:xfrm>
            <a:off x="9266819" y="2974216"/>
            <a:ext cx="1836000" cy="79295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noProof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Temperatura Aire</a:t>
            </a:r>
          </a:p>
        </p:txBody>
      </p:sp>
    </p:spTree>
    <p:extLst>
      <p:ext uri="{BB962C8B-B14F-4D97-AF65-F5344CB8AC3E}">
        <p14:creationId xmlns:p14="http://schemas.microsoft.com/office/powerpoint/2010/main" val="2486071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E272E-6D50-F8B3-2265-EFE9AC830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0D1CC8B0-76DE-4810-D4AA-9615F027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407" y="6605081"/>
            <a:ext cx="995461" cy="359923"/>
          </a:xfrm>
          <a:prstGeom prst="rect">
            <a:avLst/>
          </a:prstGeom>
        </p:spPr>
      </p:pic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F700200C-8E62-B233-6D31-6D93E8158C20}"/>
              </a:ext>
            </a:extLst>
          </p:cNvPr>
          <p:cNvSpPr txBox="1">
            <a:spLocks/>
          </p:cNvSpPr>
          <p:nvPr/>
        </p:nvSpPr>
        <p:spPr>
          <a:xfrm>
            <a:off x="555849" y="334968"/>
            <a:ext cx="3214009" cy="519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600" noProof="0"/>
              <a:t>Metodología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FC7E77C-5EE6-E324-4D23-D93B27C24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91770" y="913688"/>
            <a:ext cx="3240000" cy="37937"/>
          </a:xfrm>
          <a:prstGeom prst="rect">
            <a:avLst/>
          </a:prstGeom>
        </p:spPr>
      </p:pic>
      <p:pic>
        <p:nvPicPr>
          <p:cNvPr id="1026" name="Picture 2" descr="Decision tree - Free computer icons">
            <a:extLst>
              <a:ext uri="{FF2B5EF4-FFF2-40B4-BE49-F238E27FC236}">
                <a16:creationId xmlns:a16="http://schemas.microsoft.com/office/drawing/2014/main" id="{C2DC8E31-400E-C176-7BB6-118F9CDE1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703" y="1613551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ABCE97E-BA14-2F07-193B-24AE62A3F395}"/>
              </a:ext>
            </a:extLst>
          </p:cNvPr>
          <p:cNvSpPr/>
          <p:nvPr/>
        </p:nvSpPr>
        <p:spPr>
          <a:xfrm>
            <a:off x="768206" y="2433197"/>
            <a:ext cx="2789293" cy="16187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600" b="1" noProof="0" err="1">
                <a:latin typeface="+mj-lt"/>
              </a:rPr>
              <a:t>Random</a:t>
            </a:r>
            <a:r>
              <a:rPr lang="es-CL" sz="3600" b="1" noProof="0">
                <a:latin typeface="+mj-lt"/>
              </a:rPr>
              <a:t> Forest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434DB888-721A-881C-CC8A-1000277F40C1}"/>
              </a:ext>
            </a:extLst>
          </p:cNvPr>
          <p:cNvSpPr/>
          <p:nvPr/>
        </p:nvSpPr>
        <p:spPr>
          <a:xfrm>
            <a:off x="8908371" y="2433196"/>
            <a:ext cx="2789293" cy="1618755"/>
          </a:xfrm>
          <a:prstGeom prst="roundRect">
            <a:avLst/>
          </a:prstGeom>
          <a:solidFill>
            <a:srgbClr val="2A62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noProof="0">
                <a:latin typeface="+mj-lt"/>
              </a:rPr>
              <a:t>XG-BOOST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0B2144ED-EF81-AB32-5058-4F3E8F77E8FE}"/>
              </a:ext>
            </a:extLst>
          </p:cNvPr>
          <p:cNvSpPr txBox="1">
            <a:spLocks/>
          </p:cNvSpPr>
          <p:nvPr/>
        </p:nvSpPr>
        <p:spPr>
          <a:xfrm>
            <a:off x="4641637" y="594787"/>
            <a:ext cx="2908726" cy="11229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4400" noProof="0">
                <a:solidFill>
                  <a:srgbClr val="F7A617"/>
                </a:solidFill>
              </a:rPr>
              <a:t>Probar modelos</a:t>
            </a:r>
          </a:p>
        </p:txBody>
      </p:sp>
    </p:spTree>
    <p:extLst>
      <p:ext uri="{BB962C8B-B14F-4D97-AF65-F5344CB8AC3E}">
        <p14:creationId xmlns:p14="http://schemas.microsoft.com/office/powerpoint/2010/main" val="583075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BCFB7-3D7C-3C23-2A10-2F4456987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A729AC5E-F234-6972-841B-97A2E47EC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-1" y="6784171"/>
            <a:ext cx="12192000" cy="73828"/>
          </a:xfrm>
          <a:prstGeom prst="rect">
            <a:avLst/>
          </a:prstGeom>
        </p:spPr>
      </p:pic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5C89084-3070-FADC-150D-5E813C9D4313}"/>
              </a:ext>
            </a:extLst>
          </p:cNvPr>
          <p:cNvSpPr txBox="1">
            <a:spLocks/>
          </p:cNvSpPr>
          <p:nvPr/>
        </p:nvSpPr>
        <p:spPr>
          <a:xfrm>
            <a:off x="2051770" y="200304"/>
            <a:ext cx="8088461" cy="61516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4400" noProof="0">
                <a:solidFill>
                  <a:schemeClr val="tx1"/>
                </a:solidFill>
              </a:rPr>
              <a:t>Smart Home </a:t>
            </a:r>
            <a:r>
              <a:rPr lang="es-CL" sz="4400" noProof="0" err="1">
                <a:solidFill>
                  <a:schemeClr val="tx1"/>
                </a:solidFill>
              </a:rPr>
              <a:t>DashBoard</a:t>
            </a:r>
            <a:endParaRPr lang="es-CL" sz="3600" noProof="0">
              <a:solidFill>
                <a:schemeClr val="tx1"/>
              </a:solidFill>
            </a:endParaRPr>
          </a:p>
        </p:txBody>
      </p:sp>
      <p:pic>
        <p:nvPicPr>
          <p:cNvPr id="6" name="Imagen 5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6CC71D07-F6B9-AE80-F838-0785987EF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9059"/>
            <a:ext cx="12191999" cy="4259881"/>
          </a:xfrm>
          <a:prstGeom prst="rect">
            <a:avLst/>
          </a:prstGeom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DA26C78-3247-B3B2-E162-53D9C1657D19}"/>
              </a:ext>
            </a:extLst>
          </p:cNvPr>
          <p:cNvSpPr/>
          <p:nvPr/>
        </p:nvSpPr>
        <p:spPr>
          <a:xfrm>
            <a:off x="228600" y="2476500"/>
            <a:ext cx="7010400" cy="2968140"/>
          </a:xfrm>
          <a:prstGeom prst="roundRect">
            <a:avLst/>
          </a:prstGeom>
          <a:noFill/>
          <a:ln w="571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DA2EE31-3014-E57B-8B00-FB4D69496915}"/>
              </a:ext>
            </a:extLst>
          </p:cNvPr>
          <p:cNvSpPr/>
          <p:nvPr/>
        </p:nvSpPr>
        <p:spPr>
          <a:xfrm>
            <a:off x="7708900" y="2476500"/>
            <a:ext cx="4267200" cy="2968140"/>
          </a:xfrm>
          <a:prstGeom prst="roundRect">
            <a:avLst/>
          </a:prstGeom>
          <a:noFill/>
          <a:ln w="571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1E256C7B-0D35-8BFF-D68C-95E01E78D3B6}"/>
              </a:ext>
            </a:extLst>
          </p:cNvPr>
          <p:cNvSpPr txBox="1">
            <a:spLocks/>
          </p:cNvSpPr>
          <p:nvPr/>
        </p:nvSpPr>
        <p:spPr>
          <a:xfrm>
            <a:off x="660400" y="5778151"/>
            <a:ext cx="6146800" cy="7868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400" noProof="0">
                <a:solidFill>
                  <a:srgbClr val="F7A617"/>
                </a:solidFill>
              </a:rPr>
              <a:t>Variables de control</a:t>
            </a:r>
          </a:p>
          <a:p>
            <a:pPr algn="ctr"/>
            <a:r>
              <a:rPr lang="es-CL" sz="1400">
                <a:solidFill>
                  <a:srgbClr val="F7A617"/>
                </a:solidFill>
              </a:rPr>
              <a:t>(Futuramente datos obtenidos directamente de sensores)</a:t>
            </a:r>
            <a:endParaRPr lang="es-CL" sz="1400" noProof="0">
              <a:solidFill>
                <a:srgbClr val="F7A617"/>
              </a:solidFill>
            </a:endParaRPr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E490492A-F956-12CE-9A40-1E4B427B9556}"/>
              </a:ext>
            </a:extLst>
          </p:cNvPr>
          <p:cNvSpPr txBox="1">
            <a:spLocks/>
          </p:cNvSpPr>
          <p:nvPr/>
        </p:nvSpPr>
        <p:spPr>
          <a:xfrm>
            <a:off x="7251700" y="5778152"/>
            <a:ext cx="4724400" cy="7868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400" noProof="0">
                <a:solidFill>
                  <a:srgbClr val="F7A617"/>
                </a:solidFill>
              </a:rPr>
              <a:t>Salida objetivo temperatura para confort térmico </a:t>
            </a:r>
          </a:p>
        </p:txBody>
      </p:sp>
    </p:spTree>
    <p:extLst>
      <p:ext uri="{BB962C8B-B14F-4D97-AF65-F5344CB8AC3E}">
        <p14:creationId xmlns:p14="http://schemas.microsoft.com/office/powerpoint/2010/main" val="3778341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5FA37-C8CA-D3B3-CD9C-8AED2FF2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CB32A12-9073-C625-46F1-07E7701EEF51}"/>
              </a:ext>
            </a:extLst>
          </p:cNvPr>
          <p:cNvSpPr>
            <a:spLocks/>
          </p:cNvSpPr>
          <p:nvPr/>
        </p:nvSpPr>
        <p:spPr>
          <a:xfrm>
            <a:off x="5416826" y="13050"/>
            <a:ext cx="6775174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2000">
                <a:latin typeface="Roboto"/>
                <a:ea typeface="Roboto"/>
                <a:cs typeface="Roboto"/>
              </a:rPr>
              <a:t>XGBOOST </a:t>
            </a:r>
            <a:endParaRPr lang="es-ES">
              <a:ea typeface="Open Sans Light"/>
              <a:cs typeface="Open Sans Light"/>
            </a:endParaRPr>
          </a:p>
          <a:p>
            <a:pPr algn="ctr"/>
            <a:r>
              <a:rPr lang="es-ES" sz="2000">
                <a:latin typeface="Roboto"/>
                <a:ea typeface="Roboto"/>
                <a:cs typeface="Roboto"/>
              </a:rPr>
              <a:t>Con clo y </a:t>
            </a:r>
            <a:r>
              <a:rPr lang="es-ES" sz="2000" err="1">
                <a:latin typeface="Roboto"/>
                <a:ea typeface="Roboto"/>
                <a:cs typeface="Roboto"/>
              </a:rPr>
              <a:t>met</a:t>
            </a:r>
            <a:r>
              <a:rPr lang="es-ES" sz="2000">
                <a:latin typeface="Roboto"/>
                <a:ea typeface="Roboto"/>
                <a:cs typeface="Roboto"/>
              </a:rPr>
              <a:t>:</a:t>
            </a:r>
          </a:p>
          <a:p>
            <a:pPr algn="ctr"/>
            <a:r>
              <a:rPr lang="es-ES" sz="2000">
                <a:latin typeface="Roboto"/>
                <a:ea typeface="Roboto"/>
                <a:cs typeface="Roboto"/>
              </a:rPr>
              <a:t>R²: 0.9551     RMSE: 0.7385 °C</a:t>
            </a:r>
          </a:p>
          <a:p>
            <a:pPr algn="ctr"/>
            <a:r>
              <a:rPr lang="es-ES" sz="2000">
                <a:latin typeface="Roboto"/>
                <a:ea typeface="Roboto"/>
                <a:cs typeface="Roboto"/>
              </a:rPr>
              <a:t>Sin clo y </a:t>
            </a:r>
            <a:r>
              <a:rPr lang="es-ES" sz="2000" err="1">
                <a:latin typeface="Roboto"/>
                <a:ea typeface="Roboto"/>
                <a:cs typeface="Roboto"/>
              </a:rPr>
              <a:t>met</a:t>
            </a:r>
            <a:endParaRPr lang="es-ES" sz="2000">
              <a:ea typeface="Open Sans Light"/>
              <a:cs typeface="Open Sans Light"/>
            </a:endParaRPr>
          </a:p>
          <a:p>
            <a:pPr algn="ctr"/>
            <a:r>
              <a:rPr lang="es-ES" sz="2000">
                <a:latin typeface="Roboto"/>
                <a:ea typeface="Roboto"/>
                <a:cs typeface="Roboto"/>
              </a:rPr>
              <a:t>R²: 0.9892      RMSE: 0.4037 °C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F390F5-D10C-737F-FCCB-A731BAC9C422}"/>
              </a:ext>
            </a:extLst>
          </p:cNvPr>
          <p:cNvSpPr>
            <a:spLocks/>
          </p:cNvSpPr>
          <p:nvPr/>
        </p:nvSpPr>
        <p:spPr>
          <a:xfrm>
            <a:off x="5416826" y="2287762"/>
            <a:ext cx="6775174" cy="228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sz="2000">
              <a:latin typeface="Roboto"/>
              <a:ea typeface="Roboto"/>
              <a:cs typeface="Roboto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C38526-EA0E-6A69-39FC-8A801EE3546D}"/>
              </a:ext>
            </a:extLst>
          </p:cNvPr>
          <p:cNvSpPr>
            <a:spLocks/>
          </p:cNvSpPr>
          <p:nvPr/>
        </p:nvSpPr>
        <p:spPr>
          <a:xfrm>
            <a:off x="5416826" y="4562475"/>
            <a:ext cx="6775174" cy="2286000"/>
          </a:xfrm>
          <a:prstGeom prst="rect">
            <a:avLst/>
          </a:prstGeom>
          <a:solidFill>
            <a:srgbClr val="224F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rtl="0">
              <a:lnSpc>
                <a:spcPts val="2175"/>
              </a:lnSpc>
            </a:pPr>
            <a:r>
              <a:rPr lang="es-ES" sz="2000" baseline="0" err="1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Random</a:t>
            </a:r>
            <a:r>
              <a:rPr lang="es-ES" sz="2000" baseline="0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 Forest</a:t>
            </a:r>
            <a:r>
              <a:rPr lang="es-CL" sz="2000">
                <a:latin typeface="Roboto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2175"/>
              </a:lnSpc>
            </a:pPr>
            <a:r>
              <a:rPr lang="es-ES" sz="2000" baseline="0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Con clo y </a:t>
            </a:r>
            <a:r>
              <a:rPr lang="es-ES" sz="2000" baseline="0" err="1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met</a:t>
            </a:r>
            <a:r>
              <a:rPr lang="es-ES" sz="2000" baseline="0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:</a:t>
            </a:r>
            <a:r>
              <a:rPr lang="en-US" sz="2000">
                <a:latin typeface="Roboto"/>
                <a:ea typeface="Segoe UI"/>
                <a:cs typeface="Segoe UI"/>
              </a:rPr>
              <a:t>​</a:t>
            </a:r>
          </a:p>
          <a:p>
            <a:pPr algn="ctr">
              <a:lnSpc>
                <a:spcPts val="2175"/>
              </a:lnSpc>
            </a:pPr>
            <a:r>
              <a:rPr lang="es-ES" sz="2000" baseline="0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R²: 0.9373 </a:t>
            </a:r>
            <a:r>
              <a:rPr lang="es-ES" sz="2000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      </a:t>
            </a:r>
            <a:r>
              <a:rPr lang="es-ES" sz="2000" baseline="0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RMSE: 0.87 °C</a:t>
            </a:r>
            <a:r>
              <a:rPr lang="es-CL" sz="2000">
                <a:latin typeface="Roboto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2175"/>
              </a:lnSpc>
            </a:pPr>
            <a:r>
              <a:rPr lang="es-ES" sz="2000" baseline="0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Sin clo y </a:t>
            </a:r>
            <a:r>
              <a:rPr lang="es-ES" sz="2000" baseline="0" err="1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met</a:t>
            </a:r>
            <a:r>
              <a:rPr lang="es-ES" sz="2000">
                <a:latin typeface="Roboto"/>
                <a:ea typeface="Segoe UI"/>
                <a:cs typeface="Segoe UI"/>
              </a:rPr>
              <a:t>​</a:t>
            </a:r>
          </a:p>
          <a:p>
            <a:pPr algn="ctr">
              <a:lnSpc>
                <a:spcPts val="2175"/>
              </a:lnSpc>
            </a:pPr>
            <a:r>
              <a:rPr lang="es-ES" sz="2000" baseline="0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R²: 0.9865 </a:t>
            </a:r>
            <a:r>
              <a:rPr lang="es-ES" sz="2000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           </a:t>
            </a:r>
            <a:r>
              <a:rPr lang="es-ES" sz="2000" baseline="0">
                <a:solidFill>
                  <a:srgbClr val="FFFFFF"/>
                </a:solidFill>
                <a:latin typeface="Roboto"/>
                <a:ea typeface="Segoe UI"/>
                <a:cs typeface="Segoe UI"/>
              </a:rPr>
              <a:t>RMSE: 0.4512 °C</a:t>
            </a:r>
            <a:r>
              <a:rPr lang="es-ES" sz="2000">
                <a:latin typeface="Roboto"/>
                <a:ea typeface="Segoe UI"/>
                <a:cs typeface="Segoe UI"/>
              </a:rPr>
              <a:t>​</a:t>
            </a:r>
            <a:endParaRPr lang="es-CL" sz="2800" noProof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 Placeholder 29">
            <a:extLst>
              <a:ext uri="{FF2B5EF4-FFF2-40B4-BE49-F238E27FC236}">
                <a16:creationId xmlns:a16="http://schemas.microsoft.com/office/drawing/2014/main" id="{BB58005E-5787-BAAD-FA3A-008334CCEAC5}"/>
              </a:ext>
            </a:extLst>
          </p:cNvPr>
          <p:cNvSpPr txBox="1">
            <a:spLocks/>
          </p:cNvSpPr>
          <p:nvPr/>
        </p:nvSpPr>
        <p:spPr>
          <a:xfrm>
            <a:off x="560619" y="3066191"/>
            <a:ext cx="4522889" cy="72914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4400">
                <a:solidFill>
                  <a:srgbClr val="C00000"/>
                </a:solidFill>
              </a:rPr>
              <a:t>Resultados</a:t>
            </a:r>
            <a:endParaRPr lang="es-CL" sz="4400" noProof="0">
              <a:solidFill>
                <a:srgbClr val="C00000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8F400C5-F080-FFA0-DF4D-88ABE0318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60619" y="3765575"/>
            <a:ext cx="4522889" cy="7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95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3F903B6D-CF3F-0949-9D2A-377E7FE62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407" y="6605081"/>
            <a:ext cx="995461" cy="359923"/>
          </a:xfrm>
          <a:prstGeom prst="rect">
            <a:avLst/>
          </a:prstGeom>
        </p:spPr>
      </p:pic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951FF62B-4E77-77E1-7774-3EDFB2697F2C}"/>
              </a:ext>
            </a:extLst>
          </p:cNvPr>
          <p:cNvSpPr txBox="1">
            <a:spLocks/>
          </p:cNvSpPr>
          <p:nvPr/>
        </p:nvSpPr>
        <p:spPr>
          <a:xfrm>
            <a:off x="453116" y="594787"/>
            <a:ext cx="6690634" cy="519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600" noProof="0"/>
              <a:t>Conclusiones Preliminares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1CA7D3C-B9FD-26B6-2492-EDBCDF257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645770" y="1114425"/>
            <a:ext cx="6372000" cy="74609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BC48995-18D4-B63D-69F1-5E56ECCC4B7B}"/>
              </a:ext>
            </a:extLst>
          </p:cNvPr>
          <p:cNvSpPr/>
          <p:nvPr/>
        </p:nvSpPr>
        <p:spPr>
          <a:xfrm>
            <a:off x="390268" y="2394742"/>
            <a:ext cx="3564280" cy="20685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b="1"/>
              <a:t>Viabilidad del Control Interno</a:t>
            </a:r>
            <a:endParaRPr lang="es-ES" noProof="0">
              <a:ea typeface="Open Sans Light"/>
              <a:cs typeface="Open Sans Light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D188C3E-D9BC-EC0F-38B8-156C0D649158}"/>
              </a:ext>
            </a:extLst>
          </p:cNvPr>
          <p:cNvSpPr/>
          <p:nvPr/>
        </p:nvSpPr>
        <p:spPr>
          <a:xfrm>
            <a:off x="4261826" y="2394742"/>
            <a:ext cx="3564280" cy="2068516"/>
          </a:xfrm>
          <a:prstGeom prst="roundRect">
            <a:avLst/>
          </a:prstGeom>
          <a:solidFill>
            <a:srgbClr val="F7A6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b="1"/>
              <a:t>Inteligencia</a:t>
            </a:r>
            <a:r>
              <a:rPr lang="es-ES"/>
              <a:t> </a:t>
            </a:r>
            <a:r>
              <a:rPr lang="es-ES" b="1"/>
              <a:t>Energética</a:t>
            </a:r>
            <a:endParaRPr lang="es-CL" b="1" noProof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9D98EB2-DAB2-C0A6-C291-0CC7282D49CF}"/>
              </a:ext>
            </a:extLst>
          </p:cNvPr>
          <p:cNvSpPr/>
          <p:nvPr/>
        </p:nvSpPr>
        <p:spPr>
          <a:xfrm>
            <a:off x="8133385" y="2394742"/>
            <a:ext cx="3564280" cy="2068516"/>
          </a:xfrm>
          <a:prstGeom prst="roundRect">
            <a:avLst/>
          </a:prstGeom>
          <a:solidFill>
            <a:srgbClr val="2A62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b="1"/>
              <a:t>Siguientes</a:t>
            </a:r>
            <a:r>
              <a:rPr lang="es-ES"/>
              <a:t> </a:t>
            </a:r>
            <a:r>
              <a:rPr lang="es-ES" b="1"/>
              <a:t>Pasos</a:t>
            </a:r>
            <a:endParaRPr lang="es-CL" b="1" noProof="0"/>
          </a:p>
        </p:txBody>
      </p:sp>
    </p:spTree>
    <p:extLst>
      <p:ext uri="{BB962C8B-B14F-4D97-AF65-F5344CB8AC3E}">
        <p14:creationId xmlns:p14="http://schemas.microsoft.com/office/powerpoint/2010/main" val="2436610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9A39-0BB7-2F07-4B26-7D2A5432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72D4EC1-0105-4E53-B5E3-8C4F0DD34B96}"/>
              </a:ext>
            </a:extLst>
          </p:cNvPr>
          <p:cNvSpPr/>
          <p:nvPr/>
        </p:nvSpPr>
        <p:spPr>
          <a:xfrm>
            <a:off x="7051692" y="0"/>
            <a:ext cx="4562061" cy="68580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F630BD7-2192-CA1E-6683-3BAD1B80309D}"/>
              </a:ext>
            </a:extLst>
          </p:cNvPr>
          <p:cNvSpPr txBox="1">
            <a:spLocks/>
          </p:cNvSpPr>
          <p:nvPr/>
        </p:nvSpPr>
        <p:spPr>
          <a:xfrm>
            <a:off x="1265435" y="359667"/>
            <a:ext cx="4830565" cy="71468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13538A"/>
                </a:solidFill>
                <a:latin typeface="Montserrat" panose="00000500000000000000" pitchFamily="2" charset="0"/>
                <a:ea typeface="Open Sans Extrabold" pitchFamily="2" charset="0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noProof="0">
                <a:solidFill>
                  <a:srgbClr val="F7A617"/>
                </a:solidFill>
              </a:rPr>
              <a:t>Referencias</a:t>
            </a:r>
            <a:endParaRPr lang="es-CL" sz="4400" noProof="0">
              <a:solidFill>
                <a:srgbClr val="F7A617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B5349EC-463B-63B4-D3D2-C174F0D9D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407" y="6605081"/>
            <a:ext cx="995461" cy="35992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32CE37B-8BD9-DFF5-42D9-5EDF06E051AF}"/>
              </a:ext>
            </a:extLst>
          </p:cNvPr>
          <p:cNvSpPr txBox="1"/>
          <p:nvPr/>
        </p:nvSpPr>
        <p:spPr>
          <a:xfrm>
            <a:off x="60158" y="1453817"/>
            <a:ext cx="6988341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Roboto Light"/>
                <a:ea typeface="Roboto Light"/>
                <a:cs typeface="Roboto Light"/>
              </a:rPr>
              <a:t>[1]</a:t>
            </a:r>
            <a:r>
              <a:rPr lang="en-US" sz="1200">
                <a:latin typeface="Roboto Light"/>
                <a:ea typeface="Roboto Light"/>
                <a:cs typeface="Roboto Light"/>
              </a:rPr>
              <a:t> Youssef </a:t>
            </a:r>
            <a:r>
              <a:rPr lang="en-US" sz="1200" err="1">
                <a:latin typeface="Roboto Light"/>
                <a:ea typeface="Roboto Light"/>
                <a:cs typeface="Roboto Light"/>
              </a:rPr>
              <a:t>Boutahri</a:t>
            </a:r>
            <a:r>
              <a:rPr lang="en-US" sz="1200">
                <a:latin typeface="Roboto Light"/>
                <a:ea typeface="Roboto Light"/>
                <a:cs typeface="Roboto Light"/>
              </a:rPr>
              <a:t> and Amine </a:t>
            </a:r>
            <a:r>
              <a:rPr lang="en-US" sz="1200" err="1">
                <a:latin typeface="Roboto Light"/>
                <a:ea typeface="Roboto Light"/>
                <a:cs typeface="Roboto Light"/>
              </a:rPr>
              <a:t>Tilioua</a:t>
            </a:r>
            <a:r>
              <a:rPr lang="en-US" sz="1200">
                <a:latin typeface="Roboto Light"/>
                <a:ea typeface="Roboto Light"/>
                <a:cs typeface="Roboto Light"/>
              </a:rPr>
              <a:t>. “Machine learning-based predictive model for thermal comfort and energy optimization in smart buildings”. In: Results in Engineering 22 (2024), p. 102148.</a:t>
            </a:r>
            <a:endParaRPr lang="es-ES" sz="1200">
              <a:latin typeface="Roboto Light"/>
              <a:ea typeface="Roboto Light"/>
              <a:cs typeface="Roboto Light"/>
            </a:endParaRPr>
          </a:p>
          <a:p>
            <a:endParaRPr lang="en-US" sz="1200">
              <a:latin typeface="Roboto Light"/>
              <a:ea typeface="Roboto Light"/>
              <a:cs typeface="Roboto Light"/>
            </a:endParaRPr>
          </a:p>
          <a:p>
            <a:r>
              <a:rPr lang="en-US" sz="1200" b="1">
                <a:latin typeface="Roboto Light"/>
                <a:ea typeface="Roboto Light"/>
                <a:cs typeface="Roboto Light"/>
              </a:rPr>
              <a:t>[2]</a:t>
            </a:r>
            <a:r>
              <a:rPr lang="en-US" sz="1200">
                <a:latin typeface="Roboto Light"/>
                <a:ea typeface="Roboto Light"/>
                <a:cs typeface="Roboto Light"/>
              </a:rPr>
              <a:t> Adam </a:t>
            </a:r>
            <a:r>
              <a:rPr lang="en-US" sz="1200" err="1">
                <a:latin typeface="Roboto Light"/>
                <a:ea typeface="Roboto Light"/>
                <a:cs typeface="Roboto Light"/>
              </a:rPr>
              <a:t>Rajuroy</a:t>
            </a:r>
            <a:r>
              <a:rPr lang="en-US" sz="1200">
                <a:latin typeface="Roboto Light"/>
                <a:ea typeface="Roboto Light"/>
                <a:cs typeface="Roboto Light"/>
              </a:rPr>
              <a:t>. “Adaptive Thermal Comfort Control in Smart Homes with Reinforcement Learning and IoT Sensors.” In: ().</a:t>
            </a:r>
          </a:p>
          <a:p>
            <a:endParaRPr lang="en-US" sz="1200">
              <a:latin typeface="Roboto Light"/>
              <a:ea typeface="Open Sans Light"/>
              <a:cs typeface="Open Sans Light"/>
            </a:endParaRPr>
          </a:p>
          <a:p>
            <a:r>
              <a:rPr lang="en-US" sz="1200" b="1">
                <a:latin typeface="Roboto Light"/>
                <a:ea typeface="+mn-lt"/>
                <a:cs typeface="+mn-lt"/>
              </a:rPr>
              <a:t>[3]</a:t>
            </a:r>
            <a:r>
              <a:rPr lang="en-US" sz="1200">
                <a:latin typeface="Roboto Light"/>
                <a:ea typeface="+mn-lt"/>
                <a:cs typeface="+mn-lt"/>
              </a:rPr>
              <a:t> Wen-Tsai Sung and Sung-Jung Hsiao. “The application of thermal comfort control based on Smart House System of IoT”. In: Measurement 149 (2020), p. 106997.</a:t>
            </a:r>
            <a:endParaRPr lang="en-US" sz="1200">
              <a:latin typeface="Roboto Light"/>
              <a:ea typeface="Open Sans Light"/>
              <a:cs typeface="Open Sans Light"/>
            </a:endParaRPr>
          </a:p>
          <a:p>
            <a:endParaRPr lang="en-US" sz="1200">
              <a:latin typeface="Roboto Light"/>
              <a:ea typeface="Open Sans Light"/>
              <a:cs typeface="Open Sans Light"/>
            </a:endParaRPr>
          </a:p>
          <a:p>
            <a:r>
              <a:rPr lang="en-US" sz="1200" b="1">
                <a:latin typeface="Roboto Light"/>
                <a:ea typeface="+mn-lt"/>
                <a:cs typeface="+mn-lt"/>
              </a:rPr>
              <a:t>[4]</a:t>
            </a:r>
            <a:r>
              <a:rPr lang="en-US" sz="1200">
                <a:latin typeface="Roboto Light"/>
                <a:ea typeface="+mn-lt"/>
                <a:cs typeface="+mn-lt"/>
              </a:rPr>
              <a:t> Tianqi Chen et al. “</a:t>
            </a:r>
            <a:r>
              <a:rPr lang="en-US" sz="1200" err="1">
                <a:latin typeface="Roboto Light"/>
                <a:ea typeface="+mn-lt"/>
                <a:cs typeface="+mn-lt"/>
              </a:rPr>
              <a:t>Xgboost</a:t>
            </a:r>
            <a:r>
              <a:rPr lang="en-US" sz="1200">
                <a:latin typeface="Roboto Light"/>
                <a:ea typeface="+mn-lt"/>
                <a:cs typeface="+mn-lt"/>
              </a:rPr>
              <a:t>: extreme gradient boosting”. In: R package version 0.4-2 1.4 (2015), pp. 1–4.</a:t>
            </a:r>
            <a:endParaRPr lang="en-US" sz="1200">
              <a:latin typeface="Roboto Light"/>
              <a:ea typeface="Roboto Light"/>
              <a:cs typeface="Roboto Light"/>
            </a:endParaRPr>
          </a:p>
          <a:p>
            <a:endParaRPr lang="en-US" sz="1200">
              <a:latin typeface="Roboto Light"/>
              <a:ea typeface="Open Sans Light"/>
              <a:cs typeface="Open Sans Light"/>
            </a:endParaRPr>
          </a:p>
          <a:p>
            <a:r>
              <a:rPr lang="en-US" sz="1200" b="1">
                <a:latin typeface="Roboto Light"/>
                <a:ea typeface="+mn-lt"/>
                <a:cs typeface="+mn-lt"/>
              </a:rPr>
              <a:t>[5]</a:t>
            </a:r>
            <a:r>
              <a:rPr lang="en-US" sz="1200">
                <a:latin typeface="Roboto Light"/>
                <a:ea typeface="+mn-lt"/>
                <a:cs typeface="+mn-lt"/>
              </a:rPr>
              <a:t> Jaime Lynn Speiser et al. “A comparison of random forest variable selection methods for classification prediction modeling”. In: Expert systems with applications 134 (2019), pp. 93–101.</a:t>
            </a:r>
            <a:endParaRPr lang="en-US" sz="1200">
              <a:latin typeface="Roboto Light"/>
              <a:ea typeface="Roboto Light"/>
              <a:cs typeface="Roboto Light"/>
            </a:endParaRPr>
          </a:p>
          <a:p>
            <a:endParaRPr lang="en-US" sz="1200">
              <a:latin typeface="Roboto Light"/>
              <a:ea typeface="Open Sans Light"/>
              <a:cs typeface="Open Sans Light"/>
            </a:endParaRPr>
          </a:p>
          <a:p>
            <a:r>
              <a:rPr lang="en-US" sz="1200" b="1">
                <a:latin typeface="Segoe UI"/>
                <a:ea typeface="Open Sans Light"/>
                <a:cs typeface="Segoe UI"/>
              </a:rPr>
              <a:t>[6]</a:t>
            </a:r>
            <a:r>
              <a:rPr lang="en-US" sz="1200">
                <a:latin typeface="Segoe UI"/>
                <a:ea typeface="Open Sans Light"/>
                <a:cs typeface="Segoe UI"/>
              </a:rPr>
              <a:t> </a:t>
            </a:r>
            <a:r>
              <a:rPr lang="en-US" sz="1200">
                <a:latin typeface="roboto light"/>
                <a:ea typeface="+mn-lt"/>
                <a:cs typeface="+mn-lt"/>
              </a:rPr>
              <a:t>AliExpress, "Tuya ZigBee 3.0 Smart IR Remote Control," </a:t>
            </a:r>
            <a:r>
              <a:rPr lang="en-US" sz="1200" i="1">
                <a:latin typeface="roboto light"/>
                <a:ea typeface="+mn-lt"/>
                <a:cs typeface="+mn-lt"/>
              </a:rPr>
              <a:t>AliExpress.com</a:t>
            </a:r>
            <a:r>
              <a:rPr lang="en-US" sz="1200">
                <a:latin typeface="roboto light"/>
                <a:ea typeface="+mn-lt"/>
                <a:cs typeface="+mn-lt"/>
              </a:rPr>
              <a:t>. [Online]. Available: </a:t>
            </a:r>
            <a:r>
              <a:rPr lang="en-US" sz="1200">
                <a:latin typeface="roboto light"/>
                <a:ea typeface="+mn-lt"/>
                <a:cs typeface="+mn-lt"/>
                <a:hlinkClick r:id="rId3"/>
              </a:rPr>
              <a:t>https://www.aliexpress.com/item/1005008250984821.html</a:t>
            </a:r>
            <a:r>
              <a:rPr lang="en-US" sz="1200">
                <a:latin typeface="roboto light"/>
                <a:ea typeface="+mn-lt"/>
                <a:cs typeface="+mn-lt"/>
              </a:rPr>
              <a:t>. [Accessed: Nov. 28, 2025].</a:t>
            </a:r>
          </a:p>
          <a:p>
            <a:endParaRPr lang="en-US" sz="1200">
              <a:ea typeface="+mn-lt"/>
              <a:cs typeface="+mn-lt"/>
            </a:endParaRPr>
          </a:p>
          <a:p>
            <a:r>
              <a:rPr lang="en-US" sz="1200" b="1">
                <a:latin typeface="Segoe UI"/>
                <a:ea typeface="+mn-lt"/>
                <a:cs typeface="Segoe UI"/>
              </a:rPr>
              <a:t>[7] </a:t>
            </a:r>
            <a:r>
              <a:rPr lang="en-US" sz="1200">
                <a:latin typeface="roboto light"/>
                <a:ea typeface="+mn-lt"/>
                <a:cs typeface="+mn-lt"/>
              </a:rPr>
              <a:t>AliExpress, "ZigBee Smart Roller Blind Motor with Solar Panel," </a:t>
            </a:r>
            <a:r>
              <a:rPr lang="en-US" sz="1200" i="1">
                <a:latin typeface="roboto light"/>
                <a:ea typeface="+mn-lt"/>
                <a:cs typeface="+mn-lt"/>
              </a:rPr>
              <a:t>AliExpress.com</a:t>
            </a:r>
            <a:r>
              <a:rPr lang="en-US" sz="1200">
                <a:latin typeface="roboto light"/>
                <a:ea typeface="+mn-lt"/>
                <a:cs typeface="+mn-lt"/>
              </a:rPr>
              <a:t>. [Online]. Available: </a:t>
            </a:r>
            <a:r>
              <a:rPr lang="en-US" sz="1200">
                <a:latin typeface="roboto light"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https://www.aliexpress.com/item/1005008315057377.html</a:t>
            </a:r>
            <a:r>
              <a:rPr lang="en-US" sz="1200">
                <a:latin typeface="roboto light"/>
                <a:ea typeface="+mn-lt"/>
                <a:cs typeface="+mn-lt"/>
              </a:rPr>
              <a:t>. [Accessed: Nov. 28, 2025].</a:t>
            </a:r>
          </a:p>
          <a:p>
            <a:endParaRPr lang="en-US" sz="1200">
              <a:latin typeface="roboto light"/>
              <a:ea typeface="+mn-lt"/>
              <a:cs typeface="+mn-lt"/>
            </a:endParaRPr>
          </a:p>
          <a:p>
            <a:r>
              <a:rPr lang="en-US" sz="1200" b="1">
                <a:latin typeface="Segoe UI"/>
                <a:ea typeface="+mn-lt"/>
                <a:cs typeface="Segoe UI"/>
              </a:rPr>
              <a:t>[8]</a:t>
            </a:r>
            <a:r>
              <a:rPr lang="en-US" sz="1200">
                <a:latin typeface="roboto light"/>
                <a:ea typeface="+mn-lt"/>
                <a:cs typeface="+mn-lt"/>
              </a:rPr>
              <a:t> AliExpress, "DHT22 AM2302 Digital Temperature and Humidity Sensor Module," </a:t>
            </a:r>
            <a:r>
              <a:rPr lang="en-US" sz="1200" i="1">
                <a:latin typeface="roboto light"/>
                <a:ea typeface="+mn-lt"/>
                <a:cs typeface="+mn-lt"/>
              </a:rPr>
              <a:t>AliExpress.com</a:t>
            </a:r>
            <a:r>
              <a:rPr lang="en-US" sz="1200">
                <a:latin typeface="roboto light"/>
                <a:ea typeface="+mn-lt"/>
                <a:cs typeface="+mn-lt"/>
              </a:rPr>
              <a:t>. [Online]. Available: </a:t>
            </a:r>
            <a:r>
              <a:rPr lang="en-US" sz="1200">
                <a:latin typeface="roboto light"/>
                <a:ea typeface="+mn-lt"/>
                <a:cs typeface="+mn-lt"/>
                <a:hlinkClick r:id="rId5"/>
              </a:rPr>
              <a:t>https://www.aliexpress.com/item/32759901711.html</a:t>
            </a:r>
            <a:r>
              <a:rPr lang="en-US" sz="1200">
                <a:latin typeface="roboto light"/>
                <a:ea typeface="+mn-lt"/>
                <a:cs typeface="+mn-lt"/>
              </a:rPr>
              <a:t>. [Accessed: Nov. 28, 2025].</a:t>
            </a:r>
            <a:endParaRPr lang="en-US">
              <a:latin typeface="roboto light"/>
              <a:ea typeface="roboto light"/>
              <a:cs typeface="roboto light"/>
            </a:endParaRPr>
          </a:p>
          <a:p>
            <a:endParaRPr lang="en-US" sz="1200">
              <a:latin typeface="roboto light"/>
              <a:ea typeface="+mn-lt"/>
              <a:cs typeface="+mn-lt"/>
            </a:endParaRPr>
          </a:p>
          <a:p>
            <a:r>
              <a:rPr lang="en-US" sz="1200" b="1">
                <a:latin typeface="Segoe UI"/>
                <a:ea typeface="+mn-lt"/>
                <a:cs typeface="Segoe UI"/>
              </a:rPr>
              <a:t>[9]</a:t>
            </a:r>
            <a:r>
              <a:rPr lang="en-US" sz="1200">
                <a:latin typeface="roboto light"/>
                <a:ea typeface="+mn-lt"/>
                <a:cs typeface="+mn-lt"/>
              </a:rPr>
              <a:t> </a:t>
            </a:r>
            <a:r>
              <a:rPr lang="en-US" sz="1200" err="1">
                <a:latin typeface="roboto light"/>
                <a:ea typeface="+mn-lt"/>
                <a:cs typeface="+mn-lt"/>
              </a:rPr>
              <a:t>Espressif</a:t>
            </a:r>
            <a:r>
              <a:rPr lang="en-US" sz="1200">
                <a:latin typeface="roboto light"/>
                <a:ea typeface="+mn-lt"/>
                <a:cs typeface="+mn-lt"/>
              </a:rPr>
              <a:t> Systems, "ESP32-C6-DevKitC-1 User Guide," </a:t>
            </a:r>
            <a:r>
              <a:rPr lang="en-US" sz="1200" i="1">
                <a:latin typeface="roboto light"/>
                <a:ea typeface="+mn-lt"/>
                <a:cs typeface="+mn-lt"/>
              </a:rPr>
              <a:t>https://www.google.com/search?q=docs.espressif.com</a:t>
            </a:r>
            <a:r>
              <a:rPr lang="en-US" sz="1200">
                <a:latin typeface="roboto light"/>
                <a:ea typeface="+mn-lt"/>
                <a:cs typeface="+mn-lt"/>
              </a:rPr>
              <a:t>. [Online]. Available: </a:t>
            </a:r>
            <a:r>
              <a:rPr lang="en-US" sz="1200">
                <a:latin typeface="roboto light"/>
                <a:ea typeface="+mn-lt"/>
                <a:cs typeface="+mn-lt"/>
                <a:hlinkClick r:id="rId6"/>
              </a:rPr>
              <a:t>https://docs.espressif.com/projects/esp-dev-kits/en/latest/esp32c6/esp32-c6-devkitc-1/user_guide.html</a:t>
            </a:r>
            <a:r>
              <a:rPr lang="en-US" sz="1200">
                <a:latin typeface="roboto light"/>
                <a:ea typeface="+mn-lt"/>
                <a:cs typeface="+mn-lt"/>
              </a:rPr>
              <a:t>. [Accessed: Nov. 28, 2025].</a:t>
            </a:r>
            <a:endParaRPr lang="en-US">
              <a:latin typeface="roboto light"/>
              <a:ea typeface="roboto light"/>
              <a:cs typeface="roboto light"/>
            </a:endParaRPr>
          </a:p>
          <a:p>
            <a:endParaRPr lang="en-US" sz="1200">
              <a:latin typeface="roboto light"/>
              <a:ea typeface="+mn-lt"/>
              <a:cs typeface="+mn-lt"/>
            </a:endParaRPr>
          </a:p>
          <a:p>
            <a:endParaRPr lang="en-US" sz="1200">
              <a:latin typeface="roboto ligh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534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PD444">
      <a:majorFont>
        <a:latin typeface="Montserra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d9a2495-b819-41e8-9dfd-f584a743516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587EA8F9079846973AE57F7EDF8980" ma:contentTypeVersion="17" ma:contentTypeDescription="Crear nuevo documento." ma:contentTypeScope="" ma:versionID="3ba6f888eea67952fca3791e83f9772b">
  <xsd:schema xmlns:xsd="http://www.w3.org/2001/XMLSchema" xmlns:xs="http://www.w3.org/2001/XMLSchema" xmlns:p="http://schemas.microsoft.com/office/2006/metadata/properties" xmlns:ns3="4d9a2495-b819-41e8-9dfd-f584a743516c" xmlns:ns4="f9ae86df-4c32-46db-97c5-fcb1165191b0" targetNamespace="http://schemas.microsoft.com/office/2006/metadata/properties" ma:root="true" ma:fieldsID="f2843b59a1f9633b914b10196b3a153c" ns3:_="" ns4:_="">
    <xsd:import namespace="4d9a2495-b819-41e8-9dfd-f584a743516c"/>
    <xsd:import namespace="f9ae86df-4c32-46db-97c5-fcb1165191b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9a2495-b819-41e8-9dfd-f584a74351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ae86df-4c32-46db-97c5-fcb1165191b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968BF9-0227-4CAF-B1C3-2A7655E679BE}">
  <ds:schemaRefs>
    <ds:schemaRef ds:uri="4d9a2495-b819-41e8-9dfd-f584a743516c"/>
    <ds:schemaRef ds:uri="f9ae86df-4c32-46db-97c5-fcb1165191b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715A94-32B4-4F72-BD4C-9F081416AC9C}">
  <ds:schemaRefs>
    <ds:schemaRef ds:uri="4d9a2495-b819-41e8-9dfd-f584a743516c"/>
    <ds:schemaRef ds:uri="f9ae86df-4c32-46db-97c5-fcb1165191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461F0D7-3C44-4DCB-B0D7-FE6EB561793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13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Dinna Nafisa</dc:creator>
  <cp:revision>2</cp:revision>
  <dcterms:created xsi:type="dcterms:W3CDTF">2022-06-15T09:32:15Z</dcterms:created>
  <dcterms:modified xsi:type="dcterms:W3CDTF">2025-12-02T00:49:19Z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0x010100EC587EA8F9079846973AE57F7EDF8980</vt:lpwstr>
  </property>
</Properties>
</file>